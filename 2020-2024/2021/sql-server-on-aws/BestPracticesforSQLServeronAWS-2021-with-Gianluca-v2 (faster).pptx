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1" r:id="rId4"/>
  </p:sldMasterIdLst>
  <p:notesMasterIdLst>
    <p:notesMasterId r:id="rId40"/>
  </p:notesMasterIdLst>
  <p:handoutMasterIdLst>
    <p:handoutMasterId r:id="rId41"/>
  </p:handoutMasterIdLst>
  <p:sldIdLst>
    <p:sldId id="331" r:id="rId5"/>
    <p:sldId id="298" r:id="rId6"/>
    <p:sldId id="368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9" r:id="rId15"/>
    <p:sldId id="381" r:id="rId16"/>
    <p:sldId id="382" r:id="rId17"/>
    <p:sldId id="385" r:id="rId18"/>
    <p:sldId id="386" r:id="rId19"/>
    <p:sldId id="339" r:id="rId20"/>
    <p:sldId id="365" r:id="rId21"/>
    <p:sldId id="346" r:id="rId22"/>
    <p:sldId id="391" r:id="rId23"/>
    <p:sldId id="390" r:id="rId24"/>
    <p:sldId id="343" r:id="rId25"/>
    <p:sldId id="352" r:id="rId26"/>
    <p:sldId id="366" r:id="rId27"/>
    <p:sldId id="353" r:id="rId28"/>
    <p:sldId id="347" r:id="rId29"/>
    <p:sldId id="340" r:id="rId30"/>
    <p:sldId id="354" r:id="rId31"/>
    <p:sldId id="358" r:id="rId32"/>
    <p:sldId id="359" r:id="rId33"/>
    <p:sldId id="360" r:id="rId34"/>
    <p:sldId id="361" r:id="rId35"/>
    <p:sldId id="389" r:id="rId36"/>
    <p:sldId id="388" r:id="rId37"/>
    <p:sldId id="387" r:id="rId38"/>
    <p:sldId id="333" r:id="rId39"/>
  </p:sldIdLst>
  <p:sldSz cx="14630400" cy="8229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0" userDrawn="1">
          <p15:clr>
            <a:srgbClr val="A4A3A4"/>
          </p15:clr>
        </p15:guide>
        <p15:guide id="2" orient="horz" pos="4637" userDrawn="1">
          <p15:clr>
            <a:srgbClr val="A4A3A4"/>
          </p15:clr>
        </p15:guide>
        <p15:guide id="3" orient="horz" pos="3859" userDrawn="1">
          <p15:clr>
            <a:srgbClr val="A4A3A4"/>
          </p15:clr>
        </p15:guide>
        <p15:guide id="4" orient="horz" pos="5114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2205" userDrawn="1">
          <p15:clr>
            <a:srgbClr val="A4A3A4"/>
          </p15:clr>
        </p15:guide>
        <p15:guide id="7" orient="horz" pos="3325" userDrawn="1">
          <p15:clr>
            <a:srgbClr val="A4A3A4"/>
          </p15:clr>
        </p15:guide>
        <p15:guide id="8" orient="horz" pos="200" userDrawn="1">
          <p15:clr>
            <a:srgbClr val="A4A3A4"/>
          </p15:clr>
        </p15:guide>
        <p15:guide id="9" orient="horz" pos="3370" userDrawn="1">
          <p15:clr>
            <a:srgbClr val="A4A3A4"/>
          </p15:clr>
        </p15:guide>
        <p15:guide id="10" orient="horz" pos="4574" userDrawn="1">
          <p15:clr>
            <a:srgbClr val="A4A3A4"/>
          </p15:clr>
        </p15:guide>
        <p15:guide id="11" pos="1536" userDrawn="1">
          <p15:clr>
            <a:srgbClr val="A4A3A4"/>
          </p15:clr>
        </p15:guide>
        <p15:guide id="12" pos="2808" userDrawn="1">
          <p15:clr>
            <a:srgbClr val="A4A3A4"/>
          </p15:clr>
        </p15:guide>
        <p15:guide id="13" pos="4613" userDrawn="1">
          <p15:clr>
            <a:srgbClr val="A4A3A4"/>
          </p15:clr>
        </p15:guide>
        <p15:guide id="14" pos="4030" userDrawn="1">
          <p15:clr>
            <a:srgbClr val="A4A3A4"/>
          </p15:clr>
        </p15:guide>
        <p15:guide id="15" pos="7664" userDrawn="1">
          <p15:clr>
            <a:srgbClr val="A4A3A4"/>
          </p15:clr>
        </p15:guide>
        <p15:guide id="16" pos="3979" userDrawn="1">
          <p15:clr>
            <a:srgbClr val="A4A3A4"/>
          </p15:clr>
        </p15:guide>
        <p15:guide id="17" pos="2755" userDrawn="1">
          <p15:clr>
            <a:srgbClr val="A4A3A4"/>
          </p15:clr>
        </p15:guide>
        <p15:guide id="18" pos="1579" userDrawn="1">
          <p15:clr>
            <a:srgbClr val="A4A3A4"/>
          </p15:clr>
        </p15:guide>
        <p15:guide id="19" pos="7709" userDrawn="1">
          <p15:clr>
            <a:srgbClr val="A4A3A4"/>
          </p15:clr>
        </p15:guide>
        <p15:guide id="20" pos="521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5256" userDrawn="1">
          <p15:clr>
            <a:srgbClr val="A4A3A4"/>
          </p15:clr>
        </p15:guide>
        <p15:guide id="23" pos="6435" userDrawn="1">
          <p15:clr>
            <a:srgbClr val="A4A3A4"/>
          </p15:clr>
        </p15:guide>
        <p15:guide id="24" pos="6485" userDrawn="1">
          <p15:clr>
            <a:srgbClr val="A4A3A4"/>
          </p15:clr>
        </p15:guide>
        <p15:guide id="25" pos="8870" userDrawn="1">
          <p15:clr>
            <a:srgbClr val="A4A3A4"/>
          </p15:clr>
        </p15:guide>
        <p15:guide id="26" pos="352" userDrawn="1">
          <p15:clr>
            <a:srgbClr val="A4A3A4"/>
          </p15:clr>
        </p15:guide>
        <p15:guide id="27" pos="55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595A5D"/>
    <a:srgbClr val="414042"/>
    <a:srgbClr val="DCDCDC"/>
    <a:srgbClr val="4F81BD"/>
    <a:srgbClr val="0C9B2E"/>
    <a:srgbClr val="FFFAD0"/>
    <a:srgbClr val="FFF8AE"/>
    <a:srgbClr val="FCB64C"/>
    <a:srgbClr val="FEC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5F0CD9-7C38-40C0-9115-E1219404B029}" v="43" dt="2021-10-28T08:21:30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30" autoAdjust="0"/>
    <p:restoredTop sz="81972" autoAdjust="0"/>
  </p:normalViewPr>
  <p:slideViewPr>
    <p:cSldViewPr snapToGrid="0" showGuides="1">
      <p:cViewPr varScale="1">
        <p:scale>
          <a:sx n="90" d="100"/>
          <a:sy n="90" d="100"/>
        </p:scale>
        <p:origin x="38" y="41"/>
      </p:cViewPr>
      <p:guideLst>
        <p:guide orient="horz" pos="1030"/>
        <p:guide orient="horz" pos="4637"/>
        <p:guide orient="horz" pos="3859"/>
        <p:guide orient="horz" pos="5114"/>
        <p:guide orient="horz" pos="2160"/>
        <p:guide orient="horz" pos="2205"/>
        <p:guide orient="horz" pos="3325"/>
        <p:guide orient="horz" pos="200"/>
        <p:guide orient="horz" pos="3370"/>
        <p:guide orient="horz" pos="4574"/>
        <p:guide pos="1536"/>
        <p:guide pos="2808"/>
        <p:guide pos="4613"/>
        <p:guide pos="4030"/>
        <p:guide pos="7664"/>
        <p:guide pos="3979"/>
        <p:guide pos="2755"/>
        <p:guide pos="1579"/>
        <p:guide pos="7709"/>
        <p:guide pos="5211"/>
        <p:guide/>
        <p:guide pos="5256"/>
        <p:guide pos="6435"/>
        <p:guide pos="6485"/>
        <p:guide pos="8870"/>
        <p:guide pos="352"/>
        <p:guide pos="5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09" d="100"/>
          <a:sy n="109" d="100"/>
        </p:scale>
        <p:origin x="317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nluca Hotz" userId="d83ac18ad9b4c552" providerId="LiveId" clId="{0F5F0CD9-7C38-40C0-9115-E1219404B029}"/>
    <pc:docChg chg="modSld">
      <pc:chgData name="Gianluca Hotz" userId="d83ac18ad9b4c552" providerId="LiveId" clId="{0F5F0CD9-7C38-40C0-9115-E1219404B029}" dt="2021-10-28T08:21:30.426" v="42"/>
      <pc:docMkLst>
        <pc:docMk/>
      </pc:docMkLst>
      <pc:sldChg chg="modAnim">
        <pc:chgData name="Gianluca Hotz" userId="d83ac18ad9b4c552" providerId="LiveId" clId="{0F5F0CD9-7C38-40C0-9115-E1219404B029}" dt="2021-10-28T08:19:41.573" v="31"/>
        <pc:sldMkLst>
          <pc:docMk/>
          <pc:sldMk cId="3138493078" sldId="343"/>
        </pc:sldMkLst>
      </pc:sldChg>
      <pc:sldChg chg="modAnim">
        <pc:chgData name="Gianluca Hotz" userId="d83ac18ad9b4c552" providerId="LiveId" clId="{0F5F0CD9-7C38-40C0-9115-E1219404B029}" dt="2021-10-28T08:21:30.426" v="42"/>
        <pc:sldMkLst>
          <pc:docMk/>
          <pc:sldMk cId="1894924286" sldId="352"/>
        </pc:sldMkLst>
      </pc:sldChg>
      <pc:sldChg chg="modAnim">
        <pc:chgData name="Gianluca Hotz" userId="d83ac18ad9b4c552" providerId="LiveId" clId="{0F5F0CD9-7C38-40C0-9115-E1219404B029}" dt="2021-10-28T08:18:55.997" v="28"/>
        <pc:sldMkLst>
          <pc:docMk/>
          <pc:sldMk cId="1379610170" sldId="353"/>
        </pc:sldMkLst>
      </pc:sldChg>
      <pc:sldChg chg="modTransition">
        <pc:chgData name="Gianluca Hotz" userId="d83ac18ad9b4c552" providerId="LiveId" clId="{0F5F0CD9-7C38-40C0-9115-E1219404B029}" dt="2021-10-28T08:14:28.897" v="1"/>
        <pc:sldMkLst>
          <pc:docMk/>
          <pc:sldMk cId="2455317260" sldId="37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EAAF34-71F8-6342-832E-C583FEB3FB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00CEA-93F0-3648-8636-3ECA00800B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87149-AF03-6142-908A-3DD284EAF54B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72482-B212-B34F-AAFC-10B8C8EF77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B9C6E-4611-5A44-8B47-37FCE89DEB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AC043-34FA-4C46-BDAD-AE3E2DBAD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46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0B25AC41-3BEC-9247-8322-91B80C013F2D}" type="datetimeFigureOut">
              <a:rPr lang="en-US" smtClean="0"/>
              <a:pPr/>
              <a:t>10/28/2021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1pPr>
    <a:lvl2pPr marL="73152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2pPr>
    <a:lvl3pPr marL="146304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3pPr>
    <a:lvl4pPr marL="219456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4pPr>
    <a:lvl5pPr marL="292608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102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652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7259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30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kern="1200" dirty="0">
                <a:solidFill>
                  <a:schemeClr val="tx1"/>
                </a:solidFill>
                <a:effectLst/>
                <a:latin typeface="Amazon Ember Regular" charset="0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486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AWS SKO Event 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x-none" sz="700">
                <a:solidFill>
                  <a:srgbClr val="282828"/>
                </a:solidFill>
                <a:latin typeface="Amazon Ember" charset="0"/>
                <a:ea typeface="Amazon Ember" charset="0"/>
                <a:cs typeface="Amazon Ember" charset="0"/>
              </a:rPr>
              <a:t>© 2018, Amazon Web Services, Inc. or its Affiliates. All rights reserved.</a:t>
            </a:r>
            <a:endParaRPr lang="en-US" altLang="x-none" sz="700" dirty="0">
              <a:solidFill>
                <a:srgbClr val="282828"/>
              </a:solidFill>
              <a:latin typeface="Amazon Ember" charset="0"/>
              <a:ea typeface="Amazon Ember" charset="0"/>
              <a:cs typeface="Amazon Ember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4738081-ED31-43D5-BFC3-EF4925DA9A61}" type="datetime8">
              <a:rPr lang="en-US" smtClean="0"/>
              <a:t>10/28/2021 10:14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110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5583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606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295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2147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172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955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33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721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832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0" b="1" i="0" kern="1200" dirty="0">
              <a:solidFill>
                <a:schemeClr val="tx1"/>
              </a:solidFill>
              <a:effectLst/>
              <a:latin typeface="Amazon Ember Regular" charset="0"/>
              <a:ea typeface="+mn-ea"/>
              <a:cs typeface="+mn-cs"/>
            </a:endParaRPr>
          </a:p>
          <a:p>
            <a:endParaRPr lang="en-US" sz="2000" b="1" i="0" kern="1200" dirty="0">
              <a:solidFill>
                <a:schemeClr val="tx1"/>
              </a:solidFill>
              <a:effectLst/>
              <a:latin typeface="Amazon Ember Regular" charset="0"/>
              <a:ea typeface="+mn-ea"/>
              <a:cs typeface="+mn-cs"/>
            </a:endParaRPr>
          </a:p>
          <a:p>
            <a:endParaRPr lang="en-US" sz="2000" b="1" i="0" kern="1200" dirty="0">
              <a:solidFill>
                <a:schemeClr val="tx1"/>
              </a:solidFill>
              <a:effectLst/>
              <a:latin typeface="Amazon Ember Regular" charset="0"/>
              <a:ea typeface="+mn-ea"/>
              <a:cs typeface="+mn-cs"/>
            </a:endParaRPr>
          </a:p>
          <a:p>
            <a:endParaRPr lang="en-US" sz="2000" b="1" i="0" kern="1200" dirty="0">
              <a:solidFill>
                <a:schemeClr val="tx1"/>
              </a:solidFill>
              <a:effectLst/>
              <a:latin typeface="Amazon Ember Regular" charset="0"/>
              <a:ea typeface="+mn-ea"/>
              <a:cs typeface="+mn-cs"/>
            </a:endParaRPr>
          </a:p>
          <a:p>
            <a:endParaRPr lang="en-L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086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0190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9342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653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759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8513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0183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239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69111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8632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4549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9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422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3F2ED-74C5-7D4F-8560-0CC253E9A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7913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109721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3F2ED-74C5-7D4F-8560-0CC253E9A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2126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3F2ED-74C5-7D4F-8560-0CC253E9A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388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3F2ED-74C5-7D4F-8560-0CC253E9A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1481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C3F2ED-74C5-7D4F-8560-0CC253E9A4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8358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5471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LU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D65AC4-17B0-4E19-8496-B264E70A18D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387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44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file:////Users/sddonate/Desktop/AWS-CS-0000_2020_BRAND-PATTERN/_WORKING/Blueprint_blocks_C/_ASSETS_PPT/AWS-Core-Brand_PPT-Cover_Squid_C-01_ORANGE_1280x720_2x.png" TargetMode="External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emf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file:////Users/sddonate/Desktop/AWS-CS-0000_2020_BRAND-PATTERN/_WORKING/Blueprint_blocks_C/_ASSETS_PPT/AWS-Core-Brand_PPT-Divider_Squid_C-01_RED-ORANGE_1280x720_Cluster-A_2x.png" TargetMode="External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file:////Users/sddonate/Desktop/AWS-CS-0000_2020_BRAND-PATTERN/_WORKING/Blueprint_blocks_C/_ASSETS_PPT/AWS-Core-Brand_PPT-Divider_Squid_C-01_ORANGE_1280x720_2x.png" TargetMode="External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file:////Users/sddonate/Desktop/AWS-CS-0000_2020_BRAND-PATTERN/_WORKING/Blueprint_blocks_C/_ASSETS_PPT/AWS-Core-Brand_PPT-Divider_Squid_C-01_RED_1280x720_Cluster-B_2x.png" TargetMode="External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file:////Users/sddonate/Desktop/AWS-CS-0000_2020_BRAND-PATTERN/_WORKING/Blueprint_blocks_C/_ASSETS_PPT/AWS-Core-Brand_PPT-Divider_Squid_C-01_PURPLE_1280x720_Cluster-B_2x.png" TargetMode="External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64A653-96D4-4779-B17D-C9429C87C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1" y="2141"/>
            <a:ext cx="14626591" cy="8227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521" y="2314320"/>
            <a:ext cx="7760970" cy="868680"/>
          </a:xfrm>
        </p:spPr>
        <p:txBody>
          <a:bodyPr anchor="t"/>
          <a:lstStyle>
            <a:lvl1pPr algn="l">
              <a:defRPr sz="5760"/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521" y="3223057"/>
            <a:ext cx="7760970" cy="772034"/>
          </a:xfrm>
        </p:spPr>
        <p:txBody>
          <a:bodyPr lIns="0"/>
          <a:lstStyle>
            <a:lvl1pPr marL="0" indent="0" algn="l">
              <a:buNone/>
              <a:defRPr sz="384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Type subtitle here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10F091-03C9-4C8B-99E2-E6D7C03A8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1520" y="5240605"/>
            <a:ext cx="5760720" cy="491490"/>
          </a:xfrm>
        </p:spPr>
        <p:txBody>
          <a:bodyPr lIns="0"/>
          <a:lstStyle>
            <a:lvl1pPr marL="0" indent="0">
              <a:buNone/>
              <a:defRPr sz="2400" b="0"/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0" y="5639460"/>
            <a:ext cx="5760720" cy="761340"/>
          </a:xfrm>
        </p:spPr>
        <p:txBody>
          <a:bodyPr lIns="0"/>
          <a:lstStyle>
            <a:lvl1pPr marL="0" indent="0">
              <a:spcAft>
                <a:spcPts val="360"/>
              </a:spcAft>
              <a:buNone/>
              <a:defRPr sz="1920" b="0"/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B92A39-F1FB-8244-8D8E-F85A185D6794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421114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Version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32E6C43-B919-49A3-A70D-18632FEB8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5138"/>
            <a:ext cx="14630400" cy="8229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521" y="2854249"/>
            <a:ext cx="6862355" cy="868680"/>
          </a:xfrm>
        </p:spPr>
        <p:txBody>
          <a:bodyPr anchor="t"/>
          <a:lstStyle>
            <a:lvl1pPr algn="l">
              <a:defRPr sz="576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521" y="3762987"/>
            <a:ext cx="6862355" cy="772034"/>
          </a:xfrm>
        </p:spPr>
        <p:txBody>
          <a:bodyPr lIns="0"/>
          <a:lstStyle>
            <a:lvl1pPr marL="0" indent="0" algn="l">
              <a:buNone/>
              <a:defRPr sz="384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1520" y="5780534"/>
            <a:ext cx="5760720" cy="491490"/>
          </a:xfrm>
        </p:spPr>
        <p:txBody>
          <a:bodyPr lIns="0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0" y="6179389"/>
            <a:ext cx="5760720" cy="627631"/>
          </a:xfrm>
        </p:spPr>
        <p:txBody>
          <a:bodyPr lIns="0"/>
          <a:lstStyle>
            <a:lvl1pPr marL="0" indent="0">
              <a:spcAft>
                <a:spcPts val="360"/>
              </a:spcAft>
              <a:buNone/>
              <a:defRPr sz="1920" b="0">
                <a:solidFill>
                  <a:schemeClr val="bg1"/>
                </a:solidFill>
              </a:defRPr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EDF88F-AF7B-AC43-9A4A-96D688E33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AF2430-FE56-5947-BC3B-4AC19306B123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372512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Version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02B092-DB3E-4188-926C-644279D61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3811" y="4288"/>
            <a:ext cx="14622779" cy="8225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A53126-DD57-46D9-BBB1-EF498B0C6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521" y="2314320"/>
            <a:ext cx="7760970" cy="868680"/>
          </a:xfrm>
        </p:spPr>
        <p:txBody>
          <a:bodyPr anchor="t"/>
          <a:lstStyle>
            <a:lvl1pPr algn="l">
              <a:defRPr sz="5760"/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521" y="3223057"/>
            <a:ext cx="7760970" cy="772034"/>
          </a:xfrm>
        </p:spPr>
        <p:txBody>
          <a:bodyPr lIns="0"/>
          <a:lstStyle>
            <a:lvl1pPr marL="0" indent="0" algn="l">
              <a:buNone/>
              <a:defRPr sz="384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1520" y="5240605"/>
            <a:ext cx="5760720" cy="491490"/>
          </a:xfrm>
        </p:spPr>
        <p:txBody>
          <a:bodyPr lIns="0"/>
          <a:lstStyle>
            <a:lvl1pPr marL="0" indent="0">
              <a:buNone/>
              <a:defRPr sz="2400" b="0"/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0" y="5639461"/>
            <a:ext cx="5760720" cy="779142"/>
          </a:xfrm>
        </p:spPr>
        <p:txBody>
          <a:bodyPr lIns="0"/>
          <a:lstStyle>
            <a:lvl1pPr marL="0" indent="0">
              <a:spcAft>
                <a:spcPts val="360"/>
              </a:spcAft>
              <a:buNone/>
              <a:defRPr sz="1920" b="0"/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7C8216-C6BD-EE43-8400-9C2DF6338270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35756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Version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AEDADE-DEF9-48CB-8771-220EBD6AA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5141"/>
            <a:ext cx="14621261" cy="82244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A53126-DD57-46D9-BBB1-EF498B0C6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521" y="2314320"/>
            <a:ext cx="7760970" cy="868680"/>
          </a:xfrm>
        </p:spPr>
        <p:txBody>
          <a:bodyPr anchor="t"/>
          <a:lstStyle>
            <a:lvl1pPr algn="l">
              <a:defRPr sz="5760"/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521" y="3223057"/>
            <a:ext cx="7760970" cy="772034"/>
          </a:xfrm>
        </p:spPr>
        <p:txBody>
          <a:bodyPr lIns="0"/>
          <a:lstStyle>
            <a:lvl1pPr marL="0" indent="0" algn="l">
              <a:buNone/>
              <a:defRPr sz="384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1520" y="5240605"/>
            <a:ext cx="5760720" cy="491490"/>
          </a:xfrm>
        </p:spPr>
        <p:txBody>
          <a:bodyPr lIns="0"/>
          <a:lstStyle>
            <a:lvl1pPr marL="0" indent="0">
              <a:buNone/>
              <a:defRPr sz="2400" b="0"/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0" y="5639461"/>
            <a:ext cx="5760720" cy="491490"/>
          </a:xfrm>
        </p:spPr>
        <p:txBody>
          <a:bodyPr lIns="0"/>
          <a:lstStyle>
            <a:lvl1pPr marL="0" indent="0">
              <a:spcAft>
                <a:spcPts val="360"/>
              </a:spcAft>
              <a:buNone/>
              <a:defRPr sz="1920" b="0"/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BABFD5-1D63-934B-AAA7-FDC351570332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923926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Version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DA0BA6-987D-0C4A-841E-F8A9DF6EE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1" y="0"/>
            <a:ext cx="14624478" cy="8229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A58158-FB30-402D-9EAA-2604BF1AD77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521" y="2854249"/>
            <a:ext cx="6862355" cy="868680"/>
          </a:xfrm>
        </p:spPr>
        <p:txBody>
          <a:bodyPr anchor="t"/>
          <a:lstStyle>
            <a:lvl1pPr algn="l">
              <a:defRPr sz="576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8BC9-6D0C-459A-9F7F-5E47C262AB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521" y="3762987"/>
            <a:ext cx="6862355" cy="772034"/>
          </a:xfrm>
        </p:spPr>
        <p:txBody>
          <a:bodyPr lIns="0"/>
          <a:lstStyle>
            <a:lvl1pPr marL="0" indent="0" algn="l">
              <a:buNone/>
              <a:defRPr sz="384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Type subtitle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9ADCB45-CDD6-4A48-882D-5B8BF9CC4E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1520" y="5780534"/>
            <a:ext cx="5760720" cy="491490"/>
          </a:xfrm>
        </p:spPr>
        <p:txBody>
          <a:bodyPr lIns="0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648667D5-E2E7-4331-B1ED-AE39B476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0" y="6179389"/>
            <a:ext cx="5760720" cy="627631"/>
          </a:xfrm>
        </p:spPr>
        <p:txBody>
          <a:bodyPr lIns="0"/>
          <a:lstStyle>
            <a:lvl1pPr marL="0" indent="0">
              <a:spcAft>
                <a:spcPts val="360"/>
              </a:spcAft>
              <a:buNone/>
              <a:defRPr sz="1920" b="0">
                <a:solidFill>
                  <a:schemeClr val="bg1"/>
                </a:solidFill>
              </a:defRPr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Speaker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F2430-FE56-5947-BC3B-4AC19306B123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855650-0144-7744-8194-AEC02D8C8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14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FBB5F8-2B4C-4CDE-8A00-6203C0E48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 b="18"/>
          <a:stretch/>
        </p:blipFill>
        <p:spPr bwMode="ltGray">
          <a:xfrm>
            <a:off x="0" y="1"/>
            <a:ext cx="14626742" cy="82296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BA352-7A75-6840-8712-8F430F13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32C7B9-3E02-A74A-AD00-B53913FA76C8}"/>
              </a:ext>
            </a:extLst>
          </p:cNvPr>
          <p:cNvSpPr txBox="1"/>
          <p:nvPr/>
        </p:nvSpPr>
        <p:spPr>
          <a:xfrm>
            <a:off x="1369300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tx1"/>
                </a:solidFill>
              </a:rPr>
              <a:t>© 2021, Amazon Web Services, Inc. or its affiliates. All rights reserved. Amazon Confidential and Trademark</a:t>
            </a:r>
            <a:r>
              <a:rPr lang="en-US" sz="72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E4EE9B-C623-FA48-B93D-78D5C675E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7604847"/>
            <a:ext cx="440165" cy="26334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2F790CF2-D4B8-5A45-95C6-2550BA88C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3047137"/>
            <a:ext cx="9804310" cy="1950719"/>
          </a:xfrm>
        </p:spPr>
        <p:txBody>
          <a:bodyPr anchor="t"/>
          <a:lstStyle>
            <a:lvl1pPr>
              <a:defRPr sz="5760"/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2775334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HeaderVersion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6AC8A2-CA70-4049-B014-BB9F426BC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-4176"/>
            <a:ext cx="14626742" cy="82296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47947-B017-0044-83FA-22F75CBD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8B88DC-31B1-2A4B-9234-68F71CED0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7604847"/>
            <a:ext cx="438912" cy="2625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6AF52D-E93F-D643-9D1C-2857911253A8}"/>
              </a:ext>
            </a:extLst>
          </p:cNvPr>
          <p:cNvSpPr txBox="1"/>
          <p:nvPr/>
        </p:nvSpPr>
        <p:spPr>
          <a:xfrm>
            <a:off x="1369300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43133FB-B5B6-544C-BEF9-36F2AE6B8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3047137"/>
            <a:ext cx="9804310" cy="1950719"/>
          </a:xfrm>
        </p:spPr>
        <p:txBody>
          <a:bodyPr anchor="t"/>
          <a:lstStyle>
            <a:lvl1pPr>
              <a:defRPr sz="576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968167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HeaderVersion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63C40C-65D6-43B9-9CA7-C72FC88C0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1" y="3565"/>
            <a:ext cx="14626742" cy="8229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3047137"/>
            <a:ext cx="9804310" cy="1950719"/>
          </a:xfrm>
        </p:spPr>
        <p:txBody>
          <a:bodyPr anchor="t"/>
          <a:lstStyle>
            <a:lvl1pPr>
              <a:defRPr sz="5760"/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29803-42D7-A244-9477-DD91AA02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DAF8BE-C29B-374D-B105-E9490FC96BE0}"/>
              </a:ext>
            </a:extLst>
          </p:cNvPr>
          <p:cNvSpPr txBox="1"/>
          <p:nvPr/>
        </p:nvSpPr>
        <p:spPr>
          <a:xfrm>
            <a:off x="136930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A097F0-00F1-034C-8A54-B8F8BFEC05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234" y="7604847"/>
            <a:ext cx="438912" cy="26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36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HeaderVersion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620CA3-C3D8-47D2-8499-ADB14419D9E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1" y="0"/>
            <a:ext cx="14626742" cy="82296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9CFD5-CA68-9A4F-A271-166BC5EB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184AA-2C8B-B04D-9926-10C13768170D}"/>
              </a:ext>
            </a:extLst>
          </p:cNvPr>
          <p:cNvSpPr txBox="1"/>
          <p:nvPr/>
        </p:nvSpPr>
        <p:spPr>
          <a:xfrm>
            <a:off x="136930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tx1"/>
                </a:solidFill>
              </a:rPr>
              <a:t>© 2021, Amazon Web Services, Inc. or its affiliates. All rights reserved. Amazon Confidential and Trademark</a:t>
            </a:r>
            <a:r>
              <a:rPr lang="en-US" sz="72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C07FF5-1395-694C-AD1A-EB08FD3EEA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234" y="7604847"/>
            <a:ext cx="438912" cy="26429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23F21CE-6BBE-5340-B859-D838137E7A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3047137"/>
            <a:ext cx="9804310" cy="1950719"/>
          </a:xfrm>
        </p:spPr>
        <p:txBody>
          <a:bodyPr anchor="t"/>
          <a:lstStyle>
            <a:lvl1pPr>
              <a:defRPr sz="5760"/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2860685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HeaderVersion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63C40C-65D6-43B9-9CA7-C72FC88C0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2959" y="4594"/>
            <a:ext cx="14620822" cy="82275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2F3E8-1253-4748-A4CA-00B845807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3047137"/>
            <a:ext cx="9804310" cy="1950719"/>
          </a:xfrm>
        </p:spPr>
        <p:txBody>
          <a:bodyPr anchor="t"/>
          <a:lstStyle>
            <a:lvl1pPr>
              <a:defRPr sz="576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 – </a:t>
            </a:r>
            <a:br>
              <a:rPr lang="en-US" dirty="0"/>
            </a:br>
            <a:r>
              <a:rPr lang="en-US" dirty="0"/>
              <a:t>Type section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29803-42D7-A244-9477-DD91AA02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2EC4-3A70-F746-AFE3-65E769E94EE5}"/>
              </a:ext>
            </a:extLst>
          </p:cNvPr>
          <p:cNvSpPr txBox="1"/>
          <p:nvPr/>
        </p:nvSpPr>
        <p:spPr>
          <a:xfrm>
            <a:off x="136930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570EFF-72E8-4742-BF5A-2182B8DA9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7604847"/>
            <a:ext cx="438912" cy="26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61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608">
          <p15:clr>
            <a:srgbClr val="FBAE40"/>
          </p15:clr>
        </p15:guide>
        <p15:guide id="2" orient="horz" pos="12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33AB-9594-4983-B9F9-6E0A6C44C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29B46-A384-45C4-A7BA-8F3730F4945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31520" y="2040085"/>
            <a:ext cx="6189346" cy="4979674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C7A7E-2A85-4B33-B617-143D10EBF1F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06640" y="2040085"/>
            <a:ext cx="6492240" cy="4979671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BD263-9859-D042-9025-9D6F3D7D50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88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1101092"/>
            <a:ext cx="13167360" cy="72770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521" y="2045991"/>
            <a:ext cx="6189344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14836-1EB0-499D-8015-98B7CCC303E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31521" y="2447923"/>
            <a:ext cx="6189344" cy="4979672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06640" y="2045991"/>
            <a:ext cx="6492240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0F8A2-BBFC-4205-BF9B-0CA000B7190E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06640" y="2447922"/>
            <a:ext cx="6492240" cy="4979671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B7A11-19A5-E94B-B640-BCDB7CC765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06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2" y="2447923"/>
            <a:ext cx="4175759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1101092"/>
            <a:ext cx="13167360" cy="72770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522" y="2045991"/>
            <a:ext cx="4175759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227322" y="2045991"/>
            <a:ext cx="4175759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7322" y="2447923"/>
            <a:ext cx="4175759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F3CD244-8B44-44A6-A623-84365E91EA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23122" y="2045991"/>
            <a:ext cx="4175759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23122" y="2447923"/>
            <a:ext cx="4175759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8457D-BA7E-5F4D-BB3A-F2D68C6B824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03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Column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2" y="4345229"/>
            <a:ext cx="4175759" cy="274891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1101092"/>
            <a:ext cx="13167360" cy="72770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subtitles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522" y="3950208"/>
            <a:ext cx="4175759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227322" y="3950208"/>
            <a:ext cx="4175759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7323" y="4345229"/>
            <a:ext cx="4175759" cy="274891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F3CD244-8B44-44A6-A623-84365E91EA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23122" y="3950208"/>
            <a:ext cx="4175759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23122" y="4345229"/>
            <a:ext cx="4175759" cy="274891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F1E5D-EEF6-9840-9346-15C8E1C2ED3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F1E7883-A3AD-2B4E-A2E3-C84C7EB1E3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657123" y="1840154"/>
            <a:ext cx="2062657" cy="1799158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graphic</a:t>
            </a:r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6F836D4B-9CFA-C740-82D0-0755D5BB9D5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082819" y="1840154"/>
            <a:ext cx="2062657" cy="1799158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graphic</a:t>
            </a:r>
          </a:p>
        </p:txBody>
      </p:sp>
      <p:sp>
        <p:nvSpPr>
          <p:cNvPr id="18" name="Content Placeholder 15">
            <a:extLst>
              <a:ext uri="{FF2B5EF4-FFF2-40B4-BE49-F238E27FC236}">
                <a16:creationId xmlns:a16="http://schemas.microsoft.com/office/drawing/2014/main" id="{AF70ED47-2075-F446-AEFA-369D052D2AB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508515" y="1840154"/>
            <a:ext cx="2062657" cy="1799158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graphic</a:t>
            </a:r>
          </a:p>
        </p:txBody>
      </p:sp>
    </p:spTree>
    <p:extLst>
      <p:ext uri="{BB962C8B-B14F-4D97-AF65-F5344CB8AC3E}">
        <p14:creationId xmlns:p14="http://schemas.microsoft.com/office/powerpoint/2010/main" val="474548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  <p15:guide id="2" orient="horz" pos="24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0" y="2447923"/>
            <a:ext cx="2852928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1101092"/>
            <a:ext cx="13167360" cy="72770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520" y="2045991"/>
            <a:ext cx="2852928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165600" y="2045991"/>
            <a:ext cx="2852928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65600" y="2447923"/>
            <a:ext cx="2852928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F3CD244-8B44-44A6-A623-84365E91EA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99679" y="2045991"/>
            <a:ext cx="2852928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B7E0003-F180-4528-9992-B9342F92AF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9679" y="2447923"/>
            <a:ext cx="2852928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8FBD2BF-3C8E-4153-80EE-99905AF06D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33759" y="2045991"/>
            <a:ext cx="2852928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F6FFAA7-B9C7-461E-8BB9-81670232C4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33759" y="2447923"/>
            <a:ext cx="2852928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0D853-887F-7148-B2E5-F4E32D3B9A8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56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8C02-99C2-4973-992D-372DDC9A41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4855" y="1097280"/>
            <a:ext cx="13140691" cy="731520"/>
          </a:xfrm>
        </p:spPr>
        <p:txBody>
          <a:bodyPr anchor="t"/>
          <a:lstStyle>
            <a:lvl1pPr>
              <a:defRPr sz="384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8CA07-7BEF-4BEF-94A4-00AF846D551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64680" y="2084832"/>
            <a:ext cx="6920866" cy="5365699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89DDC-548A-473A-955E-E02E644757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1520" y="2447924"/>
            <a:ext cx="5745480" cy="5004436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E342364-8DB0-4967-9568-214F05FA950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31520" y="2045991"/>
            <a:ext cx="5745480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rgbClr val="504BAB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11C71-DFB6-494D-B894-C2C879661A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Bleed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F1DD4A-60A1-2C44-AF1D-C1D8EEDBD9DA}"/>
              </a:ext>
            </a:extLst>
          </p:cNvPr>
          <p:cNvSpPr/>
          <p:nvPr/>
        </p:nvSpPr>
        <p:spPr>
          <a:xfrm>
            <a:off x="-1" y="0"/>
            <a:ext cx="10041148" cy="822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440"/>
              </a:spcAft>
            </a:pPr>
            <a:endParaRPr lang="en-US" sz="3456" dirty="0" err="1">
              <a:solidFill>
                <a:schemeClr val="tx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41165FC-2AD2-4A91-AD2E-3C69AF64681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4630400" cy="82296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Click the icon to add a full-bleed </a:t>
            </a:r>
            <a:br>
              <a:rPr lang="en-US" dirty="0"/>
            </a:br>
            <a:r>
              <a:rPr lang="en-US" dirty="0"/>
              <a:t>(all the way to the edges) photo</a:t>
            </a:r>
          </a:p>
        </p:txBody>
      </p:sp>
    </p:spTree>
    <p:extLst>
      <p:ext uri="{BB962C8B-B14F-4D97-AF65-F5344CB8AC3E}">
        <p14:creationId xmlns:p14="http://schemas.microsoft.com/office/powerpoint/2010/main" val="36038584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Bulleted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5874-C948-4D8D-81CE-BCB1872875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One-level bulleted list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68CA-DFD8-4178-93CB-63891AAE42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4158" y="2084833"/>
            <a:ext cx="13154722" cy="5445140"/>
          </a:xfrm>
        </p:spPr>
        <p:txBody>
          <a:bodyPr/>
          <a:lstStyle>
            <a:lvl1pPr>
              <a:spcAft>
                <a:spcPts val="2160"/>
              </a:spcAft>
              <a:defRPr sz="3360"/>
            </a:lvl1pPr>
          </a:lstStyle>
          <a:p>
            <a:pPr lvl="0"/>
            <a:r>
              <a:rPr lang="en-US" dirty="0"/>
              <a:t>Enter bulleted text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3271BB-7B54-704A-B046-1E0BA3964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057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F57C-ED86-4E8B-BF12-180DFC478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2394266"/>
            <a:ext cx="9680713" cy="1954530"/>
          </a:xfrm>
        </p:spPr>
        <p:txBody>
          <a:bodyPr/>
          <a:lstStyle>
            <a:lvl1pPr>
              <a:defRPr sz="528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483E63-88C7-499E-932F-5F5978567C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0" y="4931725"/>
            <a:ext cx="8298180" cy="49641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dirty="0"/>
              <a:t>Enter quoted person’s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81AAA84-DC66-4AD5-AF44-C034537979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520" y="5320844"/>
            <a:ext cx="8298180" cy="411480"/>
          </a:xfrm>
        </p:spPr>
        <p:txBody>
          <a:bodyPr/>
          <a:lstStyle>
            <a:lvl1pPr marL="0" indent="0">
              <a:buNone/>
              <a:defRPr sz="1920" b="0"/>
            </a:lvl1pPr>
          </a:lstStyle>
          <a:p>
            <a:pPr lvl="0"/>
            <a:r>
              <a:rPr lang="en-US" dirty="0"/>
              <a:t>Enter quoted person’s affiliation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F19920D0-9924-42E3-B231-ACA928A27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328" y="2394266"/>
            <a:ext cx="371476" cy="371476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20"/>
            </a:lvl1pPr>
            <a:lvl2pPr marL="274320" indent="0">
              <a:buNone/>
              <a:defRPr sz="1200"/>
            </a:lvl2pPr>
            <a:lvl3pPr marL="548640" indent="0">
              <a:buNone/>
              <a:defRPr sz="1200"/>
            </a:lvl3pPr>
            <a:lvl4pPr marL="822960" indent="0">
              <a:buNone/>
              <a:defRPr sz="1200"/>
            </a:lvl4pPr>
            <a:lvl5pPr marL="822960" indent="0">
              <a:buNone/>
              <a:defRPr sz="12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7BE4712-7CA9-40CC-88F3-512952E447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05526" y="3905800"/>
            <a:ext cx="371476" cy="371476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20"/>
            </a:lvl1pPr>
            <a:lvl2pPr marL="274320" indent="0">
              <a:buNone/>
              <a:defRPr sz="1200"/>
            </a:lvl2pPr>
            <a:lvl3pPr marL="548640" indent="0">
              <a:buNone/>
              <a:defRPr sz="1200"/>
            </a:lvl3pPr>
            <a:lvl4pPr marL="822960" indent="0">
              <a:buNone/>
              <a:defRPr sz="1200"/>
            </a:lvl4pPr>
            <a:lvl5pPr marL="822960" indent="0">
              <a:buNone/>
              <a:defRPr sz="12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FE67B-06D7-094E-8FDA-8AEA93900DC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FA228F-D922-204D-A0D7-D1672B439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7604846"/>
            <a:ext cx="438912" cy="262308"/>
          </a:xfrm>
          <a:prstGeom prst="rect">
            <a:avLst/>
          </a:prstGeom>
          <a:solidFill>
            <a:srgbClr val="262161"/>
          </a:solidFill>
        </p:spPr>
      </p:pic>
    </p:spTree>
    <p:extLst>
      <p:ext uri="{BB962C8B-B14F-4D97-AF65-F5344CB8AC3E}">
        <p14:creationId xmlns:p14="http://schemas.microsoft.com/office/powerpoint/2010/main" val="3675130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752">
          <p15:clr>
            <a:srgbClr val="FBAE40"/>
          </p15:clr>
        </p15:guide>
        <p15:guide id="2" orient="horz" pos="13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B48D5BB6-F376-4EF5-B26A-7BD40A9295A7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31520" y="2054165"/>
            <a:ext cx="13167360" cy="5029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C5874-C948-4D8D-81CE-BCB1872875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chart layout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B88B0-CC7A-2843-92C3-ECA97DCA8E5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75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CD77E91-3EA1-4891-9DC3-6A99F34655B7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731520" y="2054165"/>
            <a:ext cx="13167360" cy="5029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the icon to add a table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C5874-C948-4D8D-81CE-BCB1872875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table layout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C3067-21A9-B741-A2BF-9F242D93DE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7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Logo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EC49-C5AD-465E-872A-6F48DA7C0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A69F0-CDAA-A140-A527-935A2C4789A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F28CEDA-6FE4-CE47-9356-F4923C83255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69712" y="263347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A5C370E2-25F2-EF4C-A298-A22AC13A72C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22512" y="263347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0886D71A-657D-4545-AA31-C525BE705E4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675312" y="263347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646A5A60-4113-F14B-9D65-A8F123B3115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1028112" y="263347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D6C5A643-1C56-2144-A892-CFFF3876D3E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67901" y="466054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BD1D8AB7-B916-FB45-9E54-2FF46C42E75A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4320701" y="466054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F24B9AB-4308-2644-B3BB-33FAD4D6F19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7673501" y="466054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4" name="Content Placeholder 16">
            <a:extLst>
              <a:ext uri="{FF2B5EF4-FFF2-40B4-BE49-F238E27FC236}">
                <a16:creationId xmlns:a16="http://schemas.microsoft.com/office/drawing/2014/main" id="{4B3A9872-61A3-E540-A093-3D2CA1A5FE3B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1026301" y="466054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4597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23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LogoWall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EC49-C5AD-465E-872A-6F48DA7C0C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E7B0E6-22C2-A94E-9CB5-A82FFC29C1A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2CBC3B4F-6704-E94E-B3F4-86221A865C5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49012" y="263347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EDEBBD5-7EC2-A844-A3FD-76B116FC6916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01812" y="263347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CE1EB165-9681-D447-999B-06FA5B79FD34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654612" y="263347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E483193-7891-3646-A991-18509369C96B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1007412" y="2633472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68AAE80F-8EF2-BA43-A40E-3DCB297FF62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47201" y="4663440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0A592176-3E84-DB4E-902E-49A21B0A6F2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4300001" y="4663440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9360FB76-1266-6F4D-B3C2-F3BFC281939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7652801" y="4663440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3C71DA29-DC2F-AB47-8998-01EC1B9D02DC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1005601" y="4663440"/>
            <a:ext cx="2194560" cy="1316736"/>
          </a:xfrm>
        </p:spPr>
        <p:txBody>
          <a:bodyPr/>
          <a:lstStyle>
            <a:lvl1pPr marL="0" indent="0">
              <a:buNone/>
              <a:defRPr sz="216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DEBA04-886F-3E49-9B4A-AFB90DAB0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7604846"/>
            <a:ext cx="438912" cy="262308"/>
          </a:xfrm>
          <a:prstGeom prst="rect">
            <a:avLst/>
          </a:prstGeom>
          <a:solidFill>
            <a:srgbClr val="262161"/>
          </a:solidFill>
        </p:spPr>
      </p:pic>
    </p:spTree>
    <p:extLst>
      <p:ext uri="{BB962C8B-B14F-4D97-AF65-F5344CB8AC3E}">
        <p14:creationId xmlns:p14="http://schemas.microsoft.com/office/powerpoint/2010/main" val="1610915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235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5874-C948-4D8D-81CE-BCB1872875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68CA-DFD8-4178-93CB-63891AAE42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520" y="2054165"/>
            <a:ext cx="13167360" cy="5029200"/>
          </a:xfrm>
        </p:spPr>
        <p:txBody>
          <a:bodyPr/>
          <a:lstStyle>
            <a:lvl1pPr marL="0" indent="0">
              <a:buNone/>
              <a:defRPr/>
            </a:lvl1pPr>
            <a:lvl2pPr marL="274320" indent="0">
              <a:buNone/>
              <a:defRPr/>
            </a:lvl2pPr>
            <a:lvl3pPr marL="603504" indent="0">
              <a:buNone/>
              <a:defRPr/>
            </a:lvl3pPr>
            <a:lvl4pPr marL="932688" indent="0">
              <a:buNone/>
              <a:defRPr/>
            </a:lvl4pPr>
            <a:lvl5pPr marL="1261872" indent="0">
              <a:buNone/>
              <a:defRPr/>
            </a:lvl5pPr>
          </a:lstStyle>
          <a:p>
            <a:pPr lvl="0"/>
            <a:r>
              <a:rPr lang="en-US" dirty="0"/>
              <a:t>Type here to 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52855-A88A-C84A-B616-146B5A6AA6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14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Only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7C39-17F2-48C2-B98B-BE3F1CA16B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66A86-A8A4-174C-B76A-184110FED0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DA9077-0555-6B40-974D-745D4D65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7604846"/>
            <a:ext cx="438912" cy="262308"/>
          </a:xfrm>
          <a:prstGeom prst="rect">
            <a:avLst/>
          </a:prstGeom>
          <a:solidFill>
            <a:srgbClr val="262161"/>
          </a:solidFill>
        </p:spPr>
      </p:pic>
    </p:spTree>
    <p:extLst>
      <p:ext uri="{BB962C8B-B14F-4D97-AF65-F5344CB8AC3E}">
        <p14:creationId xmlns:p14="http://schemas.microsoft.com/office/powerpoint/2010/main" val="3606388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7C39-17F2-48C2-B98B-BE3F1CA16B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FD768-1FDD-824A-A127-345B20AED2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53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77835-F94E-40D8-A25C-41E31206C0B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83908" y="3871862"/>
            <a:ext cx="8188643" cy="900286"/>
          </a:xfrm>
        </p:spPr>
        <p:txBody>
          <a:bodyPr/>
          <a:lstStyle>
            <a:lvl1pPr marL="0" indent="0">
              <a:buNone/>
              <a:defRPr sz="3360" b="1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CE80D-9CBB-6040-9C12-F7CD72EDB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EC9546-7799-D945-AAFE-280AB3C0F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7604846"/>
            <a:ext cx="438912" cy="262308"/>
          </a:xfrm>
          <a:prstGeom prst="rect">
            <a:avLst/>
          </a:prstGeom>
          <a:solidFill>
            <a:srgbClr val="262161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290276-76AC-1141-B167-0C2A0F67091D}"/>
              </a:ext>
            </a:extLst>
          </p:cNvPr>
          <p:cNvSpPr txBox="1"/>
          <p:nvPr/>
        </p:nvSpPr>
        <p:spPr>
          <a:xfrm>
            <a:off x="731519" y="2953453"/>
            <a:ext cx="8241030" cy="110799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5760" dirty="0">
                <a:latin typeface="+mj-l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87001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70DC09-D697-41E2-892A-737745A46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" r="82"/>
          <a:stretch/>
        </p:blipFill>
        <p:spPr bwMode="ltGray">
          <a:xfrm>
            <a:off x="-2" y="0"/>
            <a:ext cx="14626742" cy="8229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4B4B0-84F5-324C-88D2-5EF8A05C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979C8B-0B60-1C4C-97DC-7E83CD889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412A54-764E-C244-B2C4-2B2335DDE483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A9751C-2B9D-9742-92C6-4DE8A76576FF}"/>
              </a:ext>
            </a:extLst>
          </p:cNvPr>
          <p:cNvSpPr txBox="1"/>
          <p:nvPr/>
        </p:nvSpPr>
        <p:spPr>
          <a:xfrm>
            <a:off x="731519" y="2953453"/>
            <a:ext cx="8241030" cy="110799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576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80886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You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1246B3C-D374-42E8-A4C4-B0A5A9942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" r="43"/>
          <a:stretch/>
        </p:blipFill>
        <p:spPr bwMode="ltGray">
          <a:xfrm>
            <a:off x="-1" y="1"/>
            <a:ext cx="14626742" cy="82296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1814D-DC68-944F-A9A8-850689EB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197AC1-EB0F-884D-93D8-69C3215C77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E5A736-051B-8B42-8CAB-C812BE5E538F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1368D7-1EC0-F744-9A06-2D1FEB97C9D9}"/>
              </a:ext>
            </a:extLst>
          </p:cNvPr>
          <p:cNvSpPr txBox="1"/>
          <p:nvPr/>
        </p:nvSpPr>
        <p:spPr>
          <a:xfrm>
            <a:off x="731519" y="2953453"/>
            <a:ext cx="8241030" cy="110799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5760" dirty="0"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9683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You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E2C7D-813B-4A05-B7BB-C93AB010A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-2" y="-1"/>
            <a:ext cx="14626742" cy="82337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3B5C-4111-1A43-92BE-8F5FA4A7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15977A-9814-1D4F-A128-E19AFA38E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BD4F48-8813-4B4D-86F2-0474FE924466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bg1">
                    <a:lumMod val="75000"/>
                  </a:schemeClr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F5A466-F67F-7846-9925-BDC901ADE1A5}"/>
              </a:ext>
            </a:extLst>
          </p:cNvPr>
          <p:cNvSpPr txBox="1"/>
          <p:nvPr/>
        </p:nvSpPr>
        <p:spPr>
          <a:xfrm>
            <a:off x="731519" y="2953453"/>
            <a:ext cx="8241030" cy="110799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576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26701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You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E7A6CF-C9B0-455A-8447-826F7A272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" b="23"/>
          <a:stretch/>
        </p:blipFill>
        <p:spPr>
          <a:xfrm>
            <a:off x="-2" y="5140"/>
            <a:ext cx="14626742" cy="8229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D4D887-D4C2-413D-AB93-349F52800B10}"/>
              </a:ext>
            </a:extLst>
          </p:cNvPr>
          <p:cNvSpPr txBox="1"/>
          <p:nvPr/>
        </p:nvSpPr>
        <p:spPr>
          <a:xfrm>
            <a:off x="731519" y="3477814"/>
            <a:ext cx="8241030" cy="110799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5760" dirty="0">
                <a:solidFill>
                  <a:schemeClr val="tx1"/>
                </a:solidFill>
                <a:latin typeface="+mj-lt"/>
              </a:rPr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04F47-873D-C04B-9B71-4A2058AE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2BB051-B327-4340-8578-C950C494D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A18BD8-6B06-B44E-998C-EEA4C6146AFA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tx1"/>
                </a:solidFill>
              </a:rPr>
              <a:t>© 2021, Amazon Web Services, Inc. or its affiliates. All rights reserved. Amazon Confidential and Trademark.</a:t>
            </a:r>
          </a:p>
        </p:txBody>
      </p:sp>
    </p:spTree>
    <p:extLst>
      <p:ext uri="{BB962C8B-B14F-4D97-AF65-F5344CB8AC3E}">
        <p14:creationId xmlns:p14="http://schemas.microsoft.com/office/powerpoint/2010/main" val="1961258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You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E2C7D-813B-4A05-B7BB-C93AB010A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2958" y="3085"/>
            <a:ext cx="14620822" cy="82275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3B5C-4111-1A43-92BE-8F5FA4A7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15977A-9814-1D4F-A128-E19AFA38E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661708"/>
            <a:ext cx="1203808" cy="7202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BD4F48-8813-4B4D-86F2-0474FE924466}"/>
              </a:ext>
            </a:extLst>
          </p:cNvPr>
          <p:cNvSpPr txBox="1"/>
          <p:nvPr/>
        </p:nvSpPr>
        <p:spPr>
          <a:xfrm>
            <a:off x="605371" y="7667776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>
                <a:solidFill>
                  <a:schemeClr val="bg1"/>
                </a:solidFill>
              </a:rPr>
              <a:t>© 2021, Amazon Web Services, Inc. or its affiliates. All rights reserved. Amazon Confidential and Trademark.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F5A466-F67F-7846-9925-BDC901ADE1A5}"/>
              </a:ext>
            </a:extLst>
          </p:cNvPr>
          <p:cNvSpPr txBox="1"/>
          <p:nvPr/>
        </p:nvSpPr>
        <p:spPr>
          <a:xfrm>
            <a:off x="731519" y="2953453"/>
            <a:ext cx="8241030" cy="1107996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5760" dirty="0">
                <a:solidFill>
                  <a:schemeClr val="bg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141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50393-A79A-9C40-866B-A68329B2DE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607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17AF-F0F9-4F0C-A17A-347677D68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4855" y="1097280"/>
            <a:ext cx="13140692" cy="731520"/>
          </a:xfrm>
        </p:spPr>
        <p:txBody>
          <a:bodyPr anchor="t"/>
          <a:lstStyle>
            <a:lvl1pPr>
              <a:defRPr sz="384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76566-CEC8-4063-9FF9-AE08905423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64680" y="2042429"/>
            <a:ext cx="6920866" cy="5623560"/>
          </a:xfrm>
        </p:spPr>
        <p:txBody>
          <a:bodyPr/>
          <a:lstStyle>
            <a:lvl1pPr marL="0" indent="0">
              <a:buNone/>
              <a:defRPr sz="288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the icon to add a chart, table or other graphic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F6125-A1B7-4B8A-ACBB-C0DD9DDBB32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1520" y="2042429"/>
            <a:ext cx="5745480" cy="5623559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B1849-45A5-D546-84A7-67AD946B77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25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82F9-1BFF-4597-97C1-0DBDDC0ED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vertical text layout (international)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0AD46-E5C5-4ED0-A450-0B2DC3F9FF07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Enter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494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E43C3A-0026-48EB-B5D3-CD08B9EB755E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2405360" y="1097280"/>
            <a:ext cx="1493520" cy="6315074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Vertical title and text layout (international)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DD4BE-6749-4AD2-A946-E89FB63F5217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31520" y="1097279"/>
            <a:ext cx="11673840" cy="6315076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Enter vertical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33022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Four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E45CD9-67F8-4A52-86F7-18140657CB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20" y="2447923"/>
            <a:ext cx="2852928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D41CD-EE1A-4E63-BBDD-173E28125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1101092"/>
            <a:ext cx="13167360" cy="72770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subtitles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CFC72-9096-4F5D-9BDB-96DE57732B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1520" y="2045991"/>
            <a:ext cx="2852928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7F387-CD61-4FDE-AE0D-E17DE70D3B1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165600" y="2045991"/>
            <a:ext cx="2852928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D517463-352F-4D83-A9E1-0F789F9626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65600" y="2447923"/>
            <a:ext cx="2852928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0D853-887F-7148-B2E5-F4E32D3B9A8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834CDD4-D76F-4459-B025-0310E913C2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406DFD-C076-2A43-B669-6F6F5994AE7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18781" y="2042333"/>
            <a:ext cx="2852928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EF50018-7EDC-8D4F-96AF-25F9645221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1031322" y="2045991"/>
            <a:ext cx="2852928" cy="569596"/>
          </a:xfrm>
        </p:spPr>
        <p:txBody>
          <a:bodyPr lIns="0" anchor="t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8DCCECD-8A54-5249-BDEA-171B05100A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18781" y="2447923"/>
            <a:ext cx="2852928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66DAB60B-9ADB-0C4B-B033-617E2585D47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031322" y="2447923"/>
            <a:ext cx="2852928" cy="4303398"/>
          </a:xfrm>
        </p:spPr>
        <p:txBody>
          <a:bodyPr lIns="0"/>
          <a:lstStyle>
            <a:lvl1pPr marL="0" indent="0">
              <a:spcAft>
                <a:spcPts val="2160"/>
              </a:spcAft>
              <a:buNone/>
              <a:defRPr sz="2400"/>
            </a:lvl1pPr>
          </a:lstStyle>
          <a:p>
            <a:pPr lvl="0"/>
            <a:r>
              <a:rPr lang="en-US" dirty="0"/>
              <a:t>Enter text</a:t>
            </a:r>
          </a:p>
        </p:txBody>
      </p:sp>
    </p:spTree>
    <p:extLst>
      <p:ext uri="{BB962C8B-B14F-4D97-AF65-F5344CB8AC3E}">
        <p14:creationId xmlns:p14="http://schemas.microsoft.com/office/powerpoint/2010/main" val="705288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_TwoSpeaker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E126EE-C025-5948-A2CA-09B44FD20E5E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548640" y="5950356"/>
            <a:ext cx="5892800" cy="9965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aseline="0"/>
            </a:lvl1pPr>
          </a:lstStyle>
          <a:p>
            <a:pPr lvl="0"/>
            <a:r>
              <a:rPr lang="en-US" dirty="0"/>
              <a:t>Click to edit presenter, team</a:t>
            </a:r>
          </a:p>
          <a:p>
            <a:pPr lvl="0"/>
            <a:r>
              <a:rPr lang="en-US" dirty="0"/>
              <a:t>Click to edit date, location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3053166"/>
            <a:ext cx="11719981" cy="11912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6400" b="1" i="0" baseline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548640" y="4253721"/>
            <a:ext cx="9666531" cy="12312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00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48820" y="731520"/>
            <a:ext cx="1356939" cy="811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A84D03-8133-8347-8776-300EBD9F8B8C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2021, Amazon Web Services, Inc. or its Affiliates. </a:t>
            </a:r>
          </a:p>
        </p:txBody>
      </p:sp>
    </p:spTree>
    <p:extLst>
      <p:ext uri="{BB962C8B-B14F-4D97-AF65-F5344CB8AC3E}">
        <p14:creationId xmlns:p14="http://schemas.microsoft.com/office/powerpoint/2010/main" val="1383320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_of_Conte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0CA0-5CE7-1A4B-ACE6-C7A15B82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993392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0D4E-8635-D746-9FE7-1EE20F49E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1645920"/>
            <a:ext cx="13510260" cy="4686301"/>
          </a:xfrm>
          <a:prstGeom prst="rect">
            <a:avLst/>
          </a:prstGeom>
        </p:spPr>
        <p:txBody>
          <a:bodyPr/>
          <a:lstStyle>
            <a:lvl5pPr>
              <a:defRPr sz="1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8318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Only">
    <p:bg bwMode="lt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3850" y="347413"/>
            <a:ext cx="13982827" cy="1079598"/>
          </a:xfrm>
        </p:spPr>
        <p:txBody>
          <a:bodyPr lIns="182880" tIns="146304" rIns="182880" bIns="146304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0786653"/>
      </p:ext>
    </p:extLst>
  </p:cSld>
  <p:clrMapOvr>
    <a:masterClrMapping/>
  </p:clrMapOvr>
  <p:transition>
    <p:fade/>
  </p:transition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w_AWS_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F04E-3411-4AC3-B4FE-8608D742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5" y="9951"/>
            <a:ext cx="14620445" cy="824566"/>
          </a:xfrm>
          <a:prstGeom prst="rect">
            <a:avLst/>
          </a:prstGeom>
        </p:spPr>
        <p:txBody>
          <a:bodyPr/>
          <a:lstStyle>
            <a:lvl1pPr>
              <a:defRPr b="0" spc="8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5253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_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C5A18C-E55B-8242-9A52-05588436727F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6794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7E4-E7F7-9646-880C-2CDC9501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183898"/>
            <a:ext cx="13514832" cy="904122"/>
          </a:xfrm>
        </p:spPr>
        <p:txBody>
          <a:bodyPr/>
          <a:lstStyle>
            <a:lvl1pPr>
              <a:defRPr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0CA43-5C49-A347-BAC4-268F3B7F1BC4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2021, Amazon Web Services, Inc. or its Affiliates.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68472-78C1-FD4C-80A1-628CA86D3F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349613" y="7531058"/>
            <a:ext cx="709192" cy="42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14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7E4-E7F7-9646-880C-2CDC9501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08347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lide_and_Sub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91C32C7-59F5-DF47-8723-035723E617D2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4752341"/>
            <a:ext cx="8219440" cy="783078"/>
          </a:xfrm>
          <a:prstGeom prst="rect">
            <a:avLst/>
          </a:prstGeom>
        </p:spPr>
        <p:txBody>
          <a:bodyPr/>
          <a:lstStyle>
            <a:lvl1pPr>
              <a:defRPr sz="2900"/>
            </a:lvl1pPr>
            <a:lvl2pPr marL="73152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BA6A43-4E15-784A-AF64-33ECD7483B38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228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_Bulleted_Li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1460" cy="8731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645920"/>
            <a:ext cx="13510260" cy="54311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  <a:lvl2pPr>
              <a:defRPr sz="2900"/>
            </a:lvl2pPr>
            <a:lvl3pPr>
              <a:defRPr sz="2600"/>
            </a:lvl3pPr>
            <a:lvl4pPr marL="2194560" indent="0">
              <a:buNone/>
              <a:defRPr sz="2600"/>
            </a:lvl4pPr>
            <a:lvl5pPr>
              <a:defRPr sz="256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6396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Bulleted_Sectio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C5D45-2516-944B-852E-9416AD2871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39" y="1645920"/>
            <a:ext cx="6400800" cy="5089616"/>
          </a:xfrm>
          <a:prstGeom prst="rect">
            <a:avLst/>
          </a:prstGeom>
        </p:spPr>
        <p:txBody>
          <a:bodyPr/>
          <a:lstStyle>
            <a:lvl5pPr>
              <a:defRPr sz="1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680DD99-A52C-8C44-9396-106AF36BB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58100" y="1645920"/>
            <a:ext cx="6400800" cy="5089616"/>
          </a:xfrm>
          <a:prstGeom prst="rect">
            <a:avLst/>
          </a:prstGeom>
        </p:spPr>
        <p:txBody>
          <a:bodyPr/>
          <a:lstStyle>
            <a:lvl5pPr>
              <a:defRPr sz="19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3519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and_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58B8829-AB11-E54F-AFFF-11D6AD397D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58100" y="1645920"/>
            <a:ext cx="6400800" cy="508834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05C376-814F-9B49-99E8-6F17D4026F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1645920"/>
            <a:ext cx="6400800" cy="5087619"/>
          </a:xfrm>
          <a:prstGeom prst="rect">
            <a:avLst/>
          </a:prstGeom>
        </p:spPr>
        <p:txBody>
          <a:bodyPr/>
          <a:lstStyle>
            <a:lvl1pPr marL="0" marR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1">
                <a:latin typeface="+mn-lt"/>
              </a:defRPr>
            </a:lvl1pPr>
          </a:lstStyle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92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92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Lorem ipsum dolor sit </a:t>
            </a:r>
            <a:r>
              <a:rPr kumimoji="0" lang="en-US" sz="192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amet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Regular" charset="0"/>
                <a:ea typeface="+mn-ea"/>
                <a:cs typeface="Amazon Ember Regular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consectetuer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adipiscing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elit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,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diam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nonummy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nibh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euismod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tincidunt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laoreet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dolore magna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aliquam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erat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</a:t>
            </a:r>
            <a:r>
              <a:rPr kumimoji="0" lang="en-US" sz="192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volutpat</a:t>
            </a:r>
            <a:r>
              <a:rPr kumimoji="0" lang="en-US" sz="192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. </a:t>
            </a:r>
          </a:p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 Regular" charset="0"/>
              <a:ea typeface="+mn-ea"/>
              <a:cs typeface="Amazon Ember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750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ll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45920"/>
            <a:ext cx="4572000" cy="502863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5A50D07-5C25-B541-89CC-C515FB54B1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09760" y="1645920"/>
            <a:ext cx="4572000" cy="50286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FF44110-D1F4-664B-9593-7982833228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86400" y="1645920"/>
            <a:ext cx="3657600" cy="26862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886DFCC3-A169-A648-A099-3583B633E6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4767345"/>
            <a:ext cx="3657600" cy="18928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87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8862" y="183898"/>
            <a:ext cx="13520037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" y="1645920"/>
            <a:ext cx="8330183" cy="502863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5A50D07-5C25-B541-89CC-C515FB54B1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326880" y="1645920"/>
            <a:ext cx="4754880" cy="502863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2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Image_Cen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" y="1645920"/>
            <a:ext cx="13514832" cy="533815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01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_Bleed_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8145AC-79A9-834A-BE03-ED99E1BFF7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4630400" cy="82295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>
            <a:normAutofit/>
          </a:bodyPr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3516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Logo_Customer_Wal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2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5E46D-C0D2-7642-AF47-40070CB7653A}"/>
              </a:ext>
            </a:extLst>
          </p:cNvPr>
          <p:cNvSpPr/>
          <p:nvPr userDrawn="1"/>
        </p:nvSpPr>
        <p:spPr>
          <a:xfrm>
            <a:off x="0" y="1645920"/>
            <a:ext cx="14630400" cy="532964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08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46674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328298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709922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1091547" y="2502419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F1543634-A736-BA4B-A10A-31EE0B13FC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6674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1DBC551-9315-1F45-A672-93EB0600749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28298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AB66963A-7841-B341-A47C-7BEFE1F8B8C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09922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7E808491-1004-3A44-87DD-41D21C9E39C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1091547" y="4696978"/>
            <a:ext cx="2028989" cy="15181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302505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Logo_Customer_Wal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2307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543902" y="1873467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5566893" y="1873467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599958" y="1873467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543902" y="4451796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5566893" y="4451796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599958" y="4451796"/>
            <a:ext cx="3078480" cy="17610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C2C2C1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0930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0260" cy="873186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7DA888D-68DB-9B44-9614-56AAAAE93DF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48640" y="1645920"/>
            <a:ext cx="13510260" cy="5003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968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_Char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09463" cy="873186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B3C77AD1-4897-A546-B977-5EB6406DD175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48640" y="1645920"/>
            <a:ext cx="13510260" cy="544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361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_Char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09463" cy="872307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A878172D-692F-8A47-81EA-89C129774DB9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48640" y="1645920"/>
            <a:ext cx="13510260" cy="544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069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e_Char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183898"/>
            <a:ext cx="13509463" cy="872307"/>
          </a:xfrm>
        </p:spPr>
        <p:txBody>
          <a:bodyPr/>
          <a:lstStyle>
            <a:lvl1pPr>
              <a:defRPr b="1" i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08142378-5C5C-8B40-AD27-B9BE74F6EA7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48640" y="1645920"/>
            <a:ext cx="13510260" cy="544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304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Slide_and_Sub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3C1FD3-FC9E-C648-807B-884C49CEAC99}"/>
              </a:ext>
            </a:extLst>
          </p:cNvPr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9600" b="1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Q&amp;A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4752341"/>
            <a:ext cx="8219440" cy="783078"/>
          </a:xfrm>
          <a:prstGeom prst="rect">
            <a:avLst/>
          </a:prstGeom>
        </p:spPr>
        <p:txBody>
          <a:bodyPr/>
          <a:lstStyle>
            <a:lvl1pPr>
              <a:defRPr sz="2900"/>
            </a:lvl1pPr>
            <a:lvl2pPr marL="73152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820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_Slide_and_Sub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340E26-B0F6-0540-8F51-9CF877A48E26}"/>
              </a:ext>
            </a:extLst>
          </p:cNvPr>
          <p:cNvSpPr/>
          <p:nvPr userDrawn="1"/>
        </p:nvSpPr>
        <p:spPr>
          <a:xfrm>
            <a:off x="12984480" y="7351776"/>
            <a:ext cx="1328928" cy="68275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088F35-39AE-534E-AD03-B21DD335F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3108960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i="0" cap="none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C2E74A-1C76-BA45-B688-EBC1722762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640" y="4752341"/>
            <a:ext cx="8219440" cy="783078"/>
          </a:xfrm>
          <a:prstGeom prst="rect">
            <a:avLst/>
          </a:prstGeom>
        </p:spPr>
        <p:txBody>
          <a:bodyPr/>
          <a:lstStyle>
            <a:lvl1pPr>
              <a:defRPr sz="2900"/>
            </a:lvl1pPr>
            <a:lvl2pPr marL="731520" indent="0">
              <a:buNone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547C1-AC56-604D-B886-E570A90227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48820" y="731520"/>
            <a:ext cx="1356939" cy="81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94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_of_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3898"/>
            <a:ext cx="13514832" cy="87318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947" y="1645920"/>
            <a:ext cx="13514832" cy="56862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1188720" indent="-457200">
              <a:buFont typeface="Arial"/>
              <a:buChar char="•"/>
              <a:defRPr>
                <a:solidFill>
                  <a:schemeClr val="tx2"/>
                </a:solidFill>
              </a:defRPr>
            </a:lvl2pPr>
            <a:lvl3pPr marL="1828800" indent="-365760">
              <a:buFont typeface="Arial"/>
              <a:buChar char="•"/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9559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w_to_Us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516341" y="-4548146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133B37-BB08-4347-B71D-D01F225ECB4D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1897959" y="9767944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954A5E-A2DC-9041-9311-DBC4F345DE43}"/>
              </a:ext>
            </a:extLst>
          </p:cNvPr>
          <p:cNvSpPr txBox="1"/>
          <p:nvPr userDrawn="1"/>
        </p:nvSpPr>
        <p:spPr>
          <a:xfrm>
            <a:off x="538863" y="7683901"/>
            <a:ext cx="7115490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20" b="0" i="0" dirty="0">
                <a:solidFill>
                  <a:schemeClr val="tx1">
                    <a:lumMod val="50000"/>
                  </a:schemeClr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© 2021, Amazon Web Services, Inc. or its Affiliates.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8E12B8-1389-044D-9E65-845118C8F2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349613" y="7531058"/>
            <a:ext cx="709192" cy="42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60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3374A-1D85-4AF4-93EB-177AFDFE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097281"/>
            <a:ext cx="13167360" cy="731521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F94A6-4861-47A6-BF4F-FA44CC1AC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054165"/>
            <a:ext cx="13167360" cy="502920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10534-7DDF-46A1-99EF-4E3A14AD3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5040" y="75474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/>
                </a:solidFill>
              </a:defRPr>
            </a:lvl1pPr>
          </a:lstStyle>
          <a:p>
            <a:fld id="{7834CDD4-D76F-4459-B025-0310E913C2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4A728C-839E-224B-A873-5E8A32675C78}"/>
              </a:ext>
            </a:extLst>
          </p:cNvPr>
          <p:cNvPicPr>
            <a:picLocks noChangeAspect="1"/>
          </p:cNvPicPr>
          <p:nvPr/>
        </p:nvPicPr>
        <p:blipFill>
          <a:blip r:embed="rId65">
            <a:alphaModFix/>
          </a:blip>
          <a:stretch>
            <a:fillRect/>
          </a:stretch>
        </p:blipFill>
        <p:spPr>
          <a:xfrm>
            <a:off x="13257678" y="7666762"/>
            <a:ext cx="438912" cy="2642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8DC50E-59F0-1C4D-975D-5A1942C18DA3}"/>
              </a:ext>
            </a:extLst>
          </p:cNvPr>
          <p:cNvSpPr txBox="1"/>
          <p:nvPr/>
        </p:nvSpPr>
        <p:spPr>
          <a:xfrm>
            <a:off x="1153266" y="7666762"/>
            <a:ext cx="4629794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20" dirty="0"/>
              <a:t>© 2021, Amazon Web Services, Inc. or its affiliates. All rights reserved. Amazon Confidential and Trademark.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85EDA0E-C4DE-BE43-A429-B7EDF12DB3EF}"/>
              </a:ext>
            </a:extLst>
          </p:cNvPr>
          <p:cNvSpPr txBox="1">
            <a:spLocks/>
          </p:cNvSpPr>
          <p:nvPr/>
        </p:nvSpPr>
        <p:spPr>
          <a:xfrm>
            <a:off x="731520" y="196979"/>
            <a:ext cx="13167360" cy="289560"/>
          </a:xfrm>
          <a:prstGeom prst="rect">
            <a:avLst/>
          </a:prstGeom>
          <a:noFill/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SQL Server on AWS</a:t>
            </a:r>
          </a:p>
        </p:txBody>
      </p:sp>
    </p:spTree>
    <p:extLst>
      <p:ext uri="{BB962C8B-B14F-4D97-AF65-F5344CB8AC3E}">
        <p14:creationId xmlns:p14="http://schemas.microsoft.com/office/powerpoint/2010/main" val="756407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  <p:sldLayoutId id="2147483749" r:id="rId28"/>
    <p:sldLayoutId id="2147483750" r:id="rId29"/>
    <p:sldLayoutId id="2147483751" r:id="rId30"/>
    <p:sldLayoutId id="2147483752" r:id="rId31"/>
    <p:sldLayoutId id="2147483753" r:id="rId32"/>
    <p:sldLayoutId id="2147483754" r:id="rId33"/>
    <p:sldLayoutId id="2147483755" r:id="rId34"/>
    <p:sldLayoutId id="2147483756" r:id="rId35"/>
    <p:sldLayoutId id="2147483757" r:id="rId36"/>
    <p:sldLayoutId id="2147483758" r:id="rId37"/>
    <p:sldLayoutId id="2147483759" r:id="rId38"/>
    <p:sldLayoutId id="2147483760" r:id="rId39"/>
    <p:sldLayoutId id="2147483761" r:id="rId40"/>
    <p:sldLayoutId id="2147483762" r:id="rId41"/>
    <p:sldLayoutId id="2147483763" r:id="rId42"/>
    <p:sldLayoutId id="2147483764" r:id="rId43"/>
    <p:sldLayoutId id="2147483765" r:id="rId44"/>
    <p:sldLayoutId id="2147483677" r:id="rId45"/>
    <p:sldLayoutId id="2147483713" r:id="rId46"/>
    <p:sldLayoutId id="2147483689" r:id="rId47"/>
    <p:sldLayoutId id="2147483678" r:id="rId48"/>
    <p:sldLayoutId id="2147483707" r:id="rId49"/>
    <p:sldLayoutId id="2147483679" r:id="rId50"/>
    <p:sldLayoutId id="2147483703" r:id="rId51"/>
    <p:sldLayoutId id="2147483704" r:id="rId52"/>
    <p:sldLayoutId id="2147483705" r:id="rId53"/>
    <p:sldLayoutId id="2147483690" r:id="rId54"/>
    <p:sldLayoutId id="2147483691" r:id="rId55"/>
    <p:sldLayoutId id="2147483692" r:id="rId56"/>
    <p:sldLayoutId id="2147483702" r:id="rId57"/>
    <p:sldLayoutId id="2147483680" r:id="rId58"/>
    <p:sldLayoutId id="2147483701" r:id="rId59"/>
    <p:sldLayoutId id="2147483712" r:id="rId60"/>
    <p:sldLayoutId id="2147483714" r:id="rId61"/>
    <p:sldLayoutId id="2147483709" r:id="rId62"/>
    <p:sldLayoutId id="2147483710" r:id="rId63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1080"/>
        </a:spcAft>
        <a:buClr>
          <a:schemeClr val="tx1"/>
        </a:buClr>
        <a:buSzPct val="90000"/>
        <a:buFont typeface="Amazon Ember" panose="020B0603020204020204" pitchFamily="34" charset="0"/>
        <a:buChar char="•"/>
        <a:defRPr sz="336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1080"/>
        </a:spcAft>
        <a:buClr>
          <a:schemeClr val="tx1"/>
        </a:buClr>
        <a:buSzPct val="90000"/>
        <a:buFont typeface="Wingdings" panose="05000000000000000000" pitchFamily="2" charset="2"/>
        <a:buChar char="§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877824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720"/>
        </a:spcAft>
        <a:buClr>
          <a:schemeClr val="tx1"/>
        </a:buClr>
        <a:buFont typeface="Amazon Ember" panose="020B0603020204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7008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720"/>
        </a:spcAft>
        <a:buClr>
          <a:schemeClr val="tx1"/>
        </a:buClr>
        <a:buFont typeface="Amazon Ember" panose="020B0603020204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indent="-274320" algn="l" defTabSz="1097280" rtl="0" eaLnBrk="1" latinLnBrk="0" hangingPunct="1">
        <a:lnSpc>
          <a:spcPct val="100000"/>
        </a:lnSpc>
        <a:spcBef>
          <a:spcPts val="0"/>
        </a:spcBef>
        <a:spcAft>
          <a:spcPts val="720"/>
        </a:spcAft>
        <a:buClr>
          <a:schemeClr val="tx1"/>
        </a:buClr>
        <a:buFont typeface="Amazon Ember" panose="020B0603020204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mazon Ember" panose="020B0603020204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mazon Ember" panose="020B0603020204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mazon Ember" panose="020B0603020204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mazon Ember" panose="020B0603020204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orient="horz" pos="312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960">
          <p15:clr>
            <a:srgbClr val="F26B43"/>
          </p15:clr>
        </p15:guide>
        <p15:guide id="7" orient="horz" pos="1272">
          <p15:clr>
            <a:srgbClr val="F26B43"/>
          </p15:clr>
        </p15:guide>
        <p15:guide id="8" orient="horz" pos="4104">
          <p15:clr>
            <a:srgbClr val="F26B43"/>
          </p15:clr>
        </p15:guide>
        <p15:guide id="9" pos="336" userDrawn="1">
          <p15:clr>
            <a:srgbClr val="F26B43"/>
          </p15:clr>
        </p15:guide>
        <p15:guide id="10" pos="8856" userDrawn="1">
          <p15:clr>
            <a:srgbClr val="F26B43"/>
          </p15:clr>
        </p15:guide>
        <p15:guide id="11" orient="horz" pos="1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40.svg"/><Relationship Id="rId4" Type="http://schemas.openxmlformats.org/officeDocument/2006/relationships/image" Target="../media/image47.sv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5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57.png"/><Relationship Id="rId4" Type="http://schemas.openxmlformats.org/officeDocument/2006/relationships/image" Target="../media/image5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67.svg"/><Relationship Id="rId11" Type="http://schemas.openxmlformats.org/officeDocument/2006/relationships/image" Target="../media/image70.png"/><Relationship Id="rId5" Type="http://schemas.openxmlformats.org/officeDocument/2006/relationships/image" Target="../media/image66.png"/><Relationship Id="rId10" Type="http://schemas.openxmlformats.org/officeDocument/2006/relationships/image" Target="../media/image56.svg"/><Relationship Id="rId4" Type="http://schemas.openxmlformats.org/officeDocument/2006/relationships/image" Target="../media/image65.svg"/><Relationship Id="rId9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5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71.svg"/><Relationship Id="rId11" Type="http://schemas.openxmlformats.org/officeDocument/2006/relationships/image" Target="../media/image75.svg"/><Relationship Id="rId5" Type="http://schemas.openxmlformats.org/officeDocument/2006/relationships/image" Target="../media/image70.png"/><Relationship Id="rId10" Type="http://schemas.openxmlformats.org/officeDocument/2006/relationships/image" Target="../media/image74.png"/><Relationship Id="rId4" Type="http://schemas.openxmlformats.org/officeDocument/2006/relationships/image" Target="../media/image59.svg"/><Relationship Id="rId9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openxmlformats.org/officeDocument/2006/relationships/image" Target="../media/image63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Relationship Id="rId9" Type="http://schemas.openxmlformats.org/officeDocument/2006/relationships/image" Target="../media/image8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svg"/><Relationship Id="rId4" Type="http://schemas.openxmlformats.org/officeDocument/2006/relationships/image" Target="../media/image83.svg"/><Relationship Id="rId9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svg"/><Relationship Id="rId9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85.png"/><Relationship Id="rId11" Type="http://schemas.openxmlformats.org/officeDocument/2006/relationships/image" Target="../media/image93.svg"/><Relationship Id="rId5" Type="http://schemas.openxmlformats.org/officeDocument/2006/relationships/image" Target="../media/image84.png"/><Relationship Id="rId10" Type="http://schemas.openxmlformats.org/officeDocument/2006/relationships/image" Target="../media/image92.png"/><Relationship Id="rId4" Type="http://schemas.openxmlformats.org/officeDocument/2006/relationships/image" Target="../media/image83.svg"/><Relationship Id="rId9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9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2947D-1CEF-924B-ADF8-D0E4B52EE5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547" y="5016316"/>
            <a:ext cx="4709760" cy="1641237"/>
          </a:xfrm>
        </p:spPr>
        <p:txBody>
          <a:bodyPr>
            <a:normAutofit/>
          </a:bodyPr>
          <a:lstStyle/>
          <a:p>
            <a:r>
              <a:rPr lang="en-US" sz="2800" dirty="0"/>
              <a:t>Baris </a:t>
            </a:r>
            <a:r>
              <a:rPr lang="en-US" sz="2800" dirty="0" err="1"/>
              <a:t>Furtinalar</a:t>
            </a:r>
            <a:endParaRPr lang="en-US" sz="2800" dirty="0"/>
          </a:p>
          <a:p>
            <a:r>
              <a:rPr lang="en-US" sz="2000" dirty="0"/>
              <a:t>Microsoft Specialist Solutions Architect</a:t>
            </a:r>
          </a:p>
          <a:p>
            <a:r>
              <a:rPr lang="en-US" dirty="0"/>
              <a:t>AWS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B6A515-CE08-5146-8E7D-131F486B04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1413" y="2176839"/>
            <a:ext cx="9395891" cy="1768859"/>
          </a:xfrm>
        </p:spPr>
        <p:txBody>
          <a:bodyPr/>
          <a:lstStyle/>
          <a:p>
            <a:r>
              <a:rPr lang="en-US" sz="4800" dirty="0"/>
              <a:t>Best Practices for Running Microsoft SQL Server on AWS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97669F4-C5CB-45C1-B39C-B170038ED46C}"/>
              </a:ext>
            </a:extLst>
          </p:cNvPr>
          <p:cNvSpPr txBox="1">
            <a:spLocks/>
          </p:cNvSpPr>
          <p:nvPr/>
        </p:nvSpPr>
        <p:spPr>
          <a:xfrm>
            <a:off x="6536444" y="5016316"/>
            <a:ext cx="3418438" cy="164123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109728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109728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8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None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3504" indent="0" algn="l" defTabSz="109728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Clr>
                <a:schemeClr val="tx1"/>
              </a:buClr>
              <a:buFont typeface="Amazon Ember" panose="020B0603020204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688" indent="0" algn="l" defTabSz="109728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Clr>
                <a:schemeClr val="tx1"/>
              </a:buClr>
              <a:buFont typeface="Amazon Ember" panose="020B0603020204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1872" indent="0" algn="l" defTabSz="109728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Clr>
                <a:schemeClr val="tx1"/>
              </a:buClr>
              <a:buFont typeface="Amazon Ember" panose="020B0603020204020204" pitchFamily="34" charset="0"/>
              <a:buNone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mazon Ember" panose="020B0603020204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mazon Ember" panose="020B0603020204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mazon Ember" panose="020B0603020204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mazon Ember" panose="020B0603020204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Gianluca </a:t>
            </a:r>
            <a:r>
              <a:rPr lang="en-US" sz="2800" dirty="0" err="1"/>
              <a:t>Hotz</a:t>
            </a:r>
            <a:endParaRPr lang="en-US" sz="2800" dirty="0"/>
          </a:p>
          <a:p>
            <a:r>
              <a:rPr lang="en-US" sz="2000" dirty="0"/>
              <a:t>Microsoft SQL Server MVP</a:t>
            </a:r>
          </a:p>
          <a:p>
            <a:r>
              <a:rPr lang="en-US" dirty="0"/>
              <a:t>UGISS</a:t>
            </a:r>
          </a:p>
        </p:txBody>
      </p:sp>
    </p:spTree>
    <p:extLst>
      <p:ext uri="{BB962C8B-B14F-4D97-AF65-F5344CB8AC3E}">
        <p14:creationId xmlns:p14="http://schemas.microsoft.com/office/powerpoint/2010/main" val="80582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3E10B-612A-5B45-95F7-2A25DF512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85" y="652528"/>
            <a:ext cx="13510260" cy="993392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1914C-65F5-CC41-BBCB-918C1794AD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070" y="1771649"/>
            <a:ext cx="13510260" cy="4686301"/>
          </a:xfrm>
        </p:spPr>
        <p:txBody>
          <a:bodyPr/>
          <a:lstStyle/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Where can I run SQL Server on AWS?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RDS for SQL Server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Optimizing Performance for SQL Server on EC2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High Availability Best Practices for SQL Servers on AWS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Migrating SQL Server to EC2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Q&amp;A</a:t>
            </a:r>
          </a:p>
          <a:p>
            <a:pPr marL="548640" indent="-548640">
              <a:buFont typeface="Arial" panose="020B0604020202020204" pitchFamily="34" charset="0"/>
              <a:buChar char="•"/>
            </a:pPr>
            <a:endParaRPr lang="en-US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  <a:p>
            <a:pPr marL="548640" indent="-548640">
              <a:buFont typeface="Arial" panose="020B0604020202020204" pitchFamily="34" charset="0"/>
              <a:buChar char="•"/>
            </a:pPr>
            <a:endParaRPr lang="en-US" dirty="0"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624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23786" y="669227"/>
            <a:ext cx="13982827" cy="1079598"/>
          </a:xfrm>
        </p:spPr>
        <p:txBody>
          <a:bodyPr/>
          <a:lstStyle/>
          <a:p>
            <a:r>
              <a:rPr lang="en-US" sz="4400" b="1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Where can I run my SQL Server workloads on AWS?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435720" y="2369090"/>
            <a:ext cx="11487275" cy="1530225"/>
            <a:chOff x="1522325" y="1480681"/>
            <a:chExt cx="7179547" cy="956391"/>
          </a:xfrm>
        </p:grpSpPr>
        <p:sp>
          <p:nvSpPr>
            <p:cNvPr id="5" name="Rectangle 4"/>
            <p:cNvSpPr/>
            <p:nvPr/>
          </p:nvSpPr>
          <p:spPr>
            <a:xfrm>
              <a:off x="1522325" y="1480681"/>
              <a:ext cx="5973849" cy="7096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389" dirty="0">
                  <a:solidFill>
                    <a:srgbClr val="FF9900"/>
                  </a:solidFill>
                  <a:ea typeface="Amazon Ember" panose="020B0603020204020204" pitchFamily="34" charset="0"/>
                  <a:cs typeface="Amazon Ember" panose="020B0603020204020204" pitchFamily="34" charset="0"/>
                </a:rPr>
                <a:t>Amazon Relational Database Service</a:t>
              </a:r>
            </a:p>
            <a:p>
              <a:r>
                <a:rPr lang="en-US" sz="3389" dirty="0">
                  <a:solidFill>
                    <a:srgbClr val="FF9900"/>
                  </a:solidFill>
                  <a:ea typeface="Amazon Ember" panose="020B0603020204020204" pitchFamily="34" charset="0"/>
                  <a:cs typeface="Amazon Ember" panose="020B0603020204020204" pitchFamily="34" charset="0"/>
                </a:rPr>
                <a:t>(Amazon RDS)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22326" y="2163920"/>
              <a:ext cx="7179546" cy="273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40" dirty="0">
                  <a:ea typeface="Amazon Ember" panose="020B0603020204020204" pitchFamily="34" charset="0"/>
                  <a:cs typeface="Amazon Ember" panose="020B0603020204020204" pitchFamily="34" charset="0"/>
                </a:rPr>
                <a:t>Managed service with up </a:t>
              </a:r>
              <a:r>
                <a:rPr lang="en-US" sz="2240">
                  <a:ea typeface="Amazon Ember" panose="020B0603020204020204" pitchFamily="34" charset="0"/>
                  <a:cs typeface="Amazon Ember" panose="020B0603020204020204" pitchFamily="34" charset="0"/>
                </a:rPr>
                <a:t>to 128 </a:t>
              </a:r>
              <a:r>
                <a:rPr lang="en-US" sz="2240" dirty="0">
                  <a:ea typeface="Amazon Ember" panose="020B0603020204020204" pitchFamily="34" charset="0"/>
                  <a:cs typeface="Amazon Ember" panose="020B0603020204020204" pitchFamily="34" charset="0"/>
                </a:rPr>
                <a:t>vCPU</a:t>
              </a:r>
              <a:r>
                <a:rPr lang="en-US" sz="2240">
                  <a:ea typeface="Amazon Ember" panose="020B0603020204020204" pitchFamily="34" charset="0"/>
                  <a:cs typeface="Amazon Ember" panose="020B0603020204020204" pitchFamily="34" charset="0"/>
                </a:rPr>
                <a:t>, 4TBRAM</a:t>
              </a:r>
              <a:r>
                <a:rPr lang="en-US" sz="2240" dirty="0">
                  <a:ea typeface="Amazon Ember" panose="020B0603020204020204" pitchFamily="34" charset="0"/>
                  <a:cs typeface="Amazon Ember" panose="020B0603020204020204" pitchFamily="34" charset="0"/>
                </a:rPr>
                <a:t>, and 16 TB storage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435723" y="4944341"/>
            <a:ext cx="11487275" cy="1468504"/>
            <a:chOff x="1522326" y="3090214"/>
            <a:chExt cx="7179547" cy="917815"/>
          </a:xfrm>
        </p:grpSpPr>
        <p:sp>
          <p:nvSpPr>
            <p:cNvPr id="7" name="Rectangle 6"/>
            <p:cNvSpPr/>
            <p:nvPr/>
          </p:nvSpPr>
          <p:spPr>
            <a:xfrm>
              <a:off x="1522326" y="3090214"/>
              <a:ext cx="6040524" cy="7096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389" dirty="0">
                  <a:solidFill>
                    <a:srgbClr val="FF9900"/>
                  </a:solidFill>
                  <a:ea typeface="Amazon Ember" panose="020B0603020204020204" pitchFamily="34" charset="0"/>
                  <a:cs typeface="Amazon Ember" panose="020B0603020204020204" pitchFamily="34" charset="0"/>
                </a:rPr>
                <a:t>Amazon Elastic Compute Cloud</a:t>
              </a:r>
            </a:p>
            <a:p>
              <a:r>
                <a:rPr lang="en-US" sz="3389" dirty="0">
                  <a:solidFill>
                    <a:srgbClr val="FF9900"/>
                  </a:solidFill>
                  <a:ea typeface="Amazon Ember" panose="020B0603020204020204" pitchFamily="34" charset="0"/>
                  <a:cs typeface="Amazon Ember" panose="020B0603020204020204" pitchFamily="34" charset="0"/>
                </a:rPr>
                <a:t>(Amazon EC2)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522326" y="3734877"/>
              <a:ext cx="7179547" cy="273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40" dirty="0">
                  <a:ea typeface="Amazon Ember" panose="020B0603020204020204" pitchFamily="34" charset="0"/>
                  <a:cs typeface="Amazon Ember" panose="020B0603020204020204" pitchFamily="34" charset="0"/>
                </a:rPr>
                <a:t>Self-managed virtual machine with up to 448 vCPU, 24TB RAM, and 400-TB storage</a:t>
              </a:r>
            </a:p>
          </p:txBody>
        </p:sp>
      </p:grpSp>
      <p:pic>
        <p:nvPicPr>
          <p:cNvPr id="11" name="Graphic 15">
            <a:extLst>
              <a:ext uri="{FF2B5EF4-FFF2-40B4-BE49-F238E27FC236}">
                <a16:creationId xmlns:a16="http://schemas.microsoft.com/office/drawing/2014/main" id="{C74B9571-CBCE-0B41-BB93-C639C1D06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3760" y="2500984"/>
            <a:ext cx="871650" cy="871650"/>
          </a:xfrm>
          <a:prstGeom prst="rect">
            <a:avLst/>
          </a:prstGeom>
        </p:spPr>
      </p:pic>
      <p:pic>
        <p:nvPicPr>
          <p:cNvPr id="12" name="Graphic 8">
            <a:extLst>
              <a:ext uri="{FF2B5EF4-FFF2-40B4-BE49-F238E27FC236}">
                <a16:creationId xmlns:a16="http://schemas.microsoft.com/office/drawing/2014/main" id="{0CFADCF2-BD45-E64B-885E-54763259CE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05245" y="5072497"/>
            <a:ext cx="868680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1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/>
          <p:cNvSpPr txBox="1">
            <a:spLocks/>
          </p:cNvSpPr>
          <p:nvPr/>
        </p:nvSpPr>
        <p:spPr>
          <a:xfrm>
            <a:off x="2038318" y="1422457"/>
            <a:ext cx="5852160" cy="611093"/>
          </a:xfrm>
          <a:prstGeom prst="rect">
            <a:avLst/>
          </a:prstGeom>
        </p:spPr>
        <p:txBody>
          <a:bodyPr vert="horz" lIns="182880" tIns="146304" rIns="182880" bIns="146304" rtlCol="0" anchor="t">
            <a:noAutofit/>
          </a:bodyPr>
          <a:lstStyle>
            <a:lvl1pPr defTabSz="1097280">
              <a:lnSpc>
                <a:spcPct val="90000"/>
              </a:lnSpc>
              <a:spcBef>
                <a:spcPct val="0"/>
              </a:spcBef>
              <a:buNone/>
              <a:defRPr sz="4400" b="1" spc="80" baseline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Amazon RDS for SQL Server</a:t>
            </a:r>
          </a:p>
        </p:txBody>
      </p:sp>
      <p:sp>
        <p:nvSpPr>
          <p:cNvPr id="30" name="Text Placeholder 11"/>
          <p:cNvSpPr txBox="1">
            <a:spLocks/>
          </p:cNvSpPr>
          <p:nvPr/>
        </p:nvSpPr>
        <p:spPr>
          <a:xfrm>
            <a:off x="9564626" y="1458104"/>
            <a:ext cx="5890122" cy="664965"/>
          </a:xfrm>
          <a:prstGeom prst="rect">
            <a:avLst/>
          </a:prstGeom>
        </p:spPr>
        <p:txBody>
          <a:bodyPr vert="horz" lIns="182880" tIns="146304" rIns="182880" bIns="146304" rtlCol="0" anchor="t">
            <a:noAutofit/>
          </a:bodyPr>
          <a:lstStyle>
            <a:defPPr>
              <a:defRPr lang="en-US"/>
            </a:defPPr>
            <a:lvl1pPr defTabSz="1097280">
              <a:lnSpc>
                <a:spcPct val="90000"/>
              </a:lnSpc>
              <a:spcBef>
                <a:spcPct val="0"/>
              </a:spcBef>
              <a:buNone/>
              <a:defRPr sz="2800" b="1" spc="80" baseline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  <a:lvl2pPr marL="742950" indent="-285750" defTabSz="457200">
              <a:spcBef>
                <a:spcPct val="20000"/>
              </a:spcBef>
              <a:buFont typeface="Arial"/>
              <a:buChar char="•"/>
              <a:defRPr sz="2000" b="0" i="0">
                <a:latin typeface="Arial"/>
                <a:cs typeface="Arial"/>
              </a:defRPr>
            </a:lvl2pPr>
            <a:lvl3pPr marL="1143000" indent="-228600" defTabSz="457200">
              <a:spcBef>
                <a:spcPct val="20000"/>
              </a:spcBef>
              <a:buFont typeface="Arial"/>
              <a:buChar char="•"/>
              <a:defRPr b="0" i="0">
                <a:latin typeface="Arial"/>
                <a:cs typeface="Arial"/>
              </a:defRPr>
            </a:lvl3pPr>
            <a:lvl4pPr marL="1600200" indent="-228600" defTabSz="457200">
              <a:spcBef>
                <a:spcPct val="20000"/>
              </a:spcBef>
              <a:buFont typeface="Arial"/>
              <a:buChar char="–"/>
              <a:defRPr sz="1600" b="0" i="0">
                <a:latin typeface="Arial"/>
                <a:cs typeface="Arial"/>
              </a:defRPr>
            </a:lvl4pPr>
            <a:lvl5pPr marL="2057400" indent="-228600" defTabSz="457200">
              <a:spcBef>
                <a:spcPct val="20000"/>
              </a:spcBef>
              <a:buFont typeface="Arial"/>
              <a:buChar char="»"/>
              <a:defRPr sz="1600" b="0" i="0">
                <a:latin typeface="Arial"/>
                <a:cs typeface="Arial"/>
              </a:defRPr>
            </a:lvl5pPr>
            <a:lvl6pPr marL="2514600" indent="-228600" defTabSz="4572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 defTabSz="4572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 defTabSz="4572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 defTabSz="4572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SQL Server on Amazon EC2</a:t>
            </a:r>
          </a:p>
        </p:txBody>
      </p:sp>
      <p:sp>
        <p:nvSpPr>
          <p:cNvPr id="31" name="Text Placeholder 11"/>
          <p:cNvSpPr txBox="1">
            <a:spLocks/>
          </p:cNvSpPr>
          <p:nvPr/>
        </p:nvSpPr>
        <p:spPr>
          <a:xfrm>
            <a:off x="9270987" y="7191075"/>
            <a:ext cx="2937957" cy="440267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24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31520">
              <a:defRPr/>
            </a:pPr>
            <a:r>
              <a:rPr lang="en-US" sz="2240" b="1" dirty="0">
                <a:latin typeface="Calibri" panose="020F0502020204030204" pitchFamily="34" charset="0"/>
              </a:rPr>
              <a:t>Customer managed</a:t>
            </a:r>
          </a:p>
        </p:txBody>
      </p:sp>
      <p:sp>
        <p:nvSpPr>
          <p:cNvPr id="33" name="Text Placeholder 11"/>
          <p:cNvSpPr txBox="1">
            <a:spLocks/>
          </p:cNvSpPr>
          <p:nvPr/>
        </p:nvSpPr>
        <p:spPr>
          <a:xfrm>
            <a:off x="5204597" y="7167367"/>
            <a:ext cx="2110603" cy="487683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sz="24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31520">
              <a:defRPr/>
            </a:pPr>
            <a:r>
              <a:rPr lang="en-US" sz="2240" b="1" dirty="0">
                <a:latin typeface="Calibri" panose="020F0502020204030204" pitchFamily="34" charset="0"/>
              </a:rPr>
              <a:t>AWS managed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3374" y="5975194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503374" y="6500970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041140" y="6523490"/>
            <a:ext cx="213302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Power, HVAC, net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96466" y="5991880"/>
            <a:ext cx="2822376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OS Install/Maintenance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3374" y="5442885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49626" y="5459573"/>
            <a:ext cx="1516056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OS Patching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3374" y="4906986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508915" y="4923674"/>
            <a:ext cx="319747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DBMS Install/Maintenance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03374" y="4373162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162079" y="4389850"/>
            <a:ext cx="1891159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DBMS Patching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03374" y="3840427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998027" y="3857114"/>
            <a:ext cx="221926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Database Backups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3374" y="3308842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114213" y="3325528"/>
            <a:ext cx="198689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High Availability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03374" y="2756253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626148" y="2772941"/>
            <a:ext cx="96302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Scaling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39919" y="7284054"/>
            <a:ext cx="1544155" cy="260464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4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467776" y="7284054"/>
            <a:ext cx="1765283" cy="3017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4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809319" y="5974490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809319" y="6500266"/>
            <a:ext cx="3316184" cy="488243"/>
          </a:xfrm>
          <a:prstGeom prst="rect">
            <a:avLst/>
          </a:prstGeom>
          <a:solidFill>
            <a:srgbClr val="FFD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rgbClr val="0D2836"/>
              </a:solidFill>
              <a:latin typeface="Calibri" panose="020F0502020204030204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347085" y="6522787"/>
            <a:ext cx="213302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Power, HVAC, net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002412" y="5991178"/>
            <a:ext cx="2822376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solidFill>
                  <a:srgbClr val="0D2836"/>
                </a:solidFill>
                <a:latin typeface="Calibri" panose="020F0502020204030204" pitchFamily="34" charset="0"/>
              </a:rPr>
              <a:t>OS Install/Maintenance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09319" y="5442183"/>
            <a:ext cx="3316184" cy="4882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1655572" y="5458869"/>
            <a:ext cx="1516056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latin typeface="Calibri" panose="020F0502020204030204" pitchFamily="34" charset="0"/>
              </a:rPr>
              <a:t>OS Patching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09319" y="4906282"/>
            <a:ext cx="3316184" cy="4882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0814861" y="4922970"/>
            <a:ext cx="319747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latin typeface="Calibri" panose="020F0502020204030204" pitchFamily="34" charset="0"/>
              </a:rPr>
              <a:t>DBMS Install/Maintenance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809319" y="4372459"/>
            <a:ext cx="3316184" cy="4882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1468025" y="4389146"/>
            <a:ext cx="1891159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latin typeface="Calibri" panose="020F0502020204030204" pitchFamily="34" charset="0"/>
              </a:rPr>
              <a:t>DBMS Patching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09319" y="3839723"/>
            <a:ext cx="3316184" cy="4882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1303973" y="3856411"/>
            <a:ext cx="221926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latin typeface="Calibri" panose="020F0502020204030204" pitchFamily="34" charset="0"/>
              </a:rPr>
              <a:t>Database Backups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809319" y="3308138"/>
            <a:ext cx="3316184" cy="4882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1420159" y="3324826"/>
            <a:ext cx="198689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latin typeface="Calibri" panose="020F0502020204030204" pitchFamily="34" charset="0"/>
              </a:rPr>
              <a:t>High Availability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09319" y="2755551"/>
            <a:ext cx="3316184" cy="4882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>
              <a:defRPr/>
            </a:pPr>
            <a:endParaRPr lang="en-US" sz="216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1932094" y="2772237"/>
            <a:ext cx="96302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731502">
              <a:defRPr/>
            </a:pPr>
            <a:r>
              <a:rPr lang="en-US" sz="2160" dirty="0">
                <a:latin typeface="Calibri" panose="020F0502020204030204" pitchFamily="34" charset="0"/>
              </a:rPr>
              <a:t>Scaling</a:t>
            </a:r>
          </a:p>
        </p:txBody>
      </p:sp>
      <p:cxnSp>
        <p:nvCxnSpPr>
          <p:cNvPr id="77" name="Straight Connector 76"/>
          <p:cNvCxnSpPr/>
          <p:nvPr/>
        </p:nvCxnSpPr>
        <p:spPr>
          <a:xfrm>
            <a:off x="7315200" y="1587219"/>
            <a:ext cx="0" cy="5603856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Picture 7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243" y="946964"/>
            <a:ext cx="2634256" cy="2074837"/>
          </a:xfrm>
          <a:prstGeom prst="rect">
            <a:avLst/>
          </a:prstGeom>
        </p:spPr>
      </p:pic>
      <p:grpSp>
        <p:nvGrpSpPr>
          <p:cNvPr id="80" name="Group 79"/>
          <p:cNvGrpSpPr/>
          <p:nvPr/>
        </p:nvGrpSpPr>
        <p:grpSpPr>
          <a:xfrm>
            <a:off x="7890478" y="815622"/>
            <a:ext cx="2007898" cy="2119038"/>
            <a:chOff x="1806684" y="772161"/>
            <a:chExt cx="2582860" cy="2725824"/>
          </a:xfrm>
        </p:grpSpPr>
        <p:pic>
          <p:nvPicPr>
            <p:cNvPr id="81" name="Picture 8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6684" y="1409700"/>
              <a:ext cx="1720144" cy="2019300"/>
            </a:xfrm>
            <a:prstGeom prst="rect">
              <a:avLst/>
            </a:prstGeom>
          </p:spPr>
        </p:pic>
        <p:pic>
          <p:nvPicPr>
            <p:cNvPr id="82" name="Picture 8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58871" y="2721735"/>
              <a:ext cx="765000" cy="776250"/>
            </a:xfrm>
            <a:prstGeom prst="rect">
              <a:avLst/>
            </a:prstGeom>
          </p:spPr>
        </p:pic>
        <p:pic>
          <p:nvPicPr>
            <p:cNvPr id="83" name="Picture 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55118" y="1535906"/>
              <a:ext cx="632953" cy="1041310"/>
            </a:xfrm>
            <a:prstGeom prst="rect">
              <a:avLst/>
            </a:prstGeom>
          </p:spPr>
        </p:pic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79631" y="772161"/>
              <a:ext cx="1709913" cy="1939290"/>
            </a:xfrm>
            <a:prstGeom prst="rect">
              <a:avLst/>
            </a:prstGeom>
          </p:spPr>
        </p:pic>
      </p:grpSp>
      <p:sp>
        <p:nvSpPr>
          <p:cNvPr id="88" name="Content Placeholder 4"/>
          <p:cNvSpPr txBox="1">
            <a:spLocks/>
          </p:cNvSpPr>
          <p:nvPr/>
        </p:nvSpPr>
        <p:spPr>
          <a:xfrm>
            <a:off x="132541" y="3342855"/>
            <a:ext cx="3095746" cy="3570750"/>
          </a:xfrm>
          <a:prstGeom prst="rect">
            <a:avLst/>
          </a:prstGeom>
        </p:spPr>
        <p:txBody>
          <a:bodyPr/>
          <a:lstStyle>
            <a:lvl1pPr marL="0" indent="0" algn="l" defTabSz="609585" rtl="0" eaLnBrk="1" latinLnBrk="0" hangingPunct="1">
              <a:spcBef>
                <a:spcPct val="20000"/>
              </a:spcBef>
              <a:buFontTx/>
              <a:buNone/>
              <a:defRPr sz="3200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133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indent="-411480" defTabSz="975336">
              <a:buFont typeface="Arial"/>
              <a:buChar char="•"/>
              <a:defRPr/>
            </a:pPr>
            <a:r>
              <a:rPr lang="en-US" sz="2160" b="1" dirty="0">
                <a:solidFill>
                  <a:schemeClr val="tx1"/>
                </a:solidFill>
                <a:latin typeface="Calibri" panose="020F0502020204030204" pitchFamily="34" charset="0"/>
              </a:rPr>
              <a:t>Consider RDS first</a:t>
            </a:r>
          </a:p>
          <a:p>
            <a:pPr marL="411480" indent="-411480" defTabSz="975336">
              <a:buFont typeface="Arial"/>
              <a:buChar char="•"/>
              <a:defRPr/>
            </a:pP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Focus on business value tasks</a:t>
            </a:r>
          </a:p>
          <a:p>
            <a:pPr marL="411480" indent="-411480" defTabSz="975336">
              <a:buFont typeface="Arial"/>
              <a:buChar char="•"/>
              <a:defRPr/>
            </a:pP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High-level tuning asks</a:t>
            </a:r>
          </a:p>
          <a:p>
            <a:pPr marL="411480" indent="-411480" defTabSz="975336">
              <a:buFont typeface="Arial"/>
              <a:buChar char="•"/>
              <a:defRPr/>
            </a:pP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Schema optimization</a:t>
            </a:r>
          </a:p>
          <a:p>
            <a:pPr marL="411480" indent="-411480" defTabSz="975336">
              <a:buFont typeface="Arial"/>
              <a:buChar char="•"/>
              <a:defRPr/>
            </a:pP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No in-house database expertise</a:t>
            </a:r>
          </a:p>
          <a:p>
            <a:pPr defTabSz="975336">
              <a:defRPr/>
            </a:pPr>
            <a:endParaRPr lang="en-US" sz="216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89" name="Content Placeholder 6"/>
          <p:cNvSpPr txBox="1">
            <a:spLocks/>
          </p:cNvSpPr>
          <p:nvPr/>
        </p:nvSpPr>
        <p:spPr>
          <a:xfrm>
            <a:off x="7467777" y="3350149"/>
            <a:ext cx="4850130" cy="3556160"/>
          </a:xfrm>
          <a:prstGeom prst="rect">
            <a:avLst/>
          </a:prstGeom>
        </p:spPr>
        <p:txBody>
          <a:bodyPr/>
          <a:lstStyle>
            <a:lvl1pPr marL="0" indent="0" algn="l" defTabSz="609585" rtl="0" eaLnBrk="1" latinLnBrk="0" hangingPunct="1">
              <a:spcBef>
                <a:spcPct val="20000"/>
              </a:spcBef>
              <a:buFontTx/>
              <a:buNone/>
              <a:defRPr sz="3200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133" b="0" i="0" kern="1200">
                <a:solidFill>
                  <a:schemeClr val="accent6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indent="-411480" defTabSz="975336">
              <a:buFont typeface="Arial"/>
              <a:buChar char="•"/>
              <a:defRPr/>
            </a:pP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Need full control over</a:t>
            </a:r>
            <a:b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</a:b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DB instance</a:t>
            </a:r>
          </a:p>
          <a:p>
            <a:pPr marL="411480" indent="-411480" defTabSz="975336">
              <a:buFont typeface="Arial"/>
              <a:buChar char="•"/>
              <a:defRPr/>
            </a:pP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Backups</a:t>
            </a:r>
          </a:p>
          <a:p>
            <a:pPr marL="411480" indent="-411480" defTabSz="975336">
              <a:buFont typeface="Arial"/>
              <a:buChar char="•"/>
              <a:defRPr/>
            </a:pP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Replication</a:t>
            </a:r>
          </a:p>
          <a:p>
            <a:pPr marL="411480" indent="-411480" defTabSz="975336">
              <a:buFont typeface="Arial"/>
              <a:buChar char="•"/>
              <a:defRPr/>
            </a:pP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Clustering</a:t>
            </a:r>
          </a:p>
          <a:p>
            <a:pPr marL="411480" indent="-411480" defTabSz="975336">
              <a:buFont typeface="Arial"/>
              <a:buChar char="•"/>
              <a:defRPr/>
            </a:pP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Options that are not</a:t>
            </a:r>
            <a:b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</a:br>
            <a:r>
              <a:rPr lang="en-US" sz="2160" dirty="0">
                <a:solidFill>
                  <a:schemeClr val="tx1"/>
                </a:solidFill>
                <a:latin typeface="Calibri" panose="020F0502020204030204" pitchFamily="34" charset="0"/>
              </a:rPr>
              <a:t>available in RDS</a:t>
            </a:r>
          </a:p>
          <a:p>
            <a:pPr defTabSz="975336">
              <a:defRPr/>
            </a:pPr>
            <a:endParaRPr lang="en-US" sz="384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71" name="Title 5">
            <a:extLst>
              <a:ext uri="{FF2B5EF4-FFF2-40B4-BE49-F238E27FC236}">
                <a16:creationId xmlns:a16="http://schemas.microsoft.com/office/drawing/2014/main" id="{1DD55A61-378F-AF43-8F66-6E6766AC9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48" y="384572"/>
            <a:ext cx="13128486" cy="987832"/>
          </a:xfrm>
        </p:spPr>
        <p:txBody>
          <a:bodyPr vert="horz" lIns="182880" tIns="146304" rIns="182880" bIns="146304" rtlCol="0" anchor="t">
            <a:noAutofit/>
          </a:bodyPr>
          <a:lstStyle/>
          <a:p>
            <a:r>
              <a:rPr lang="en-US" sz="4400" b="1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Options for Deploying SQL Server on AWS</a:t>
            </a:r>
          </a:p>
        </p:txBody>
      </p:sp>
    </p:spTree>
    <p:extLst>
      <p:ext uri="{BB962C8B-B14F-4D97-AF65-F5344CB8AC3E}">
        <p14:creationId xmlns:p14="http://schemas.microsoft.com/office/powerpoint/2010/main" val="47088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139" y="324446"/>
            <a:ext cx="13167360" cy="731521"/>
          </a:xfrm>
        </p:spPr>
        <p:txBody>
          <a:bodyPr vert="horz" lIns="182880" tIns="146304" rIns="182880" bIns="146304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SQL Server Features at a Glance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F93B998-8E5C-1B4B-BF77-DB22982D414B}"/>
              </a:ext>
            </a:extLst>
          </p:cNvPr>
          <p:cNvGrpSpPr/>
          <p:nvPr/>
        </p:nvGrpSpPr>
        <p:grpSpPr>
          <a:xfrm>
            <a:off x="424311" y="1056205"/>
            <a:ext cx="13352386" cy="6312178"/>
            <a:chOff x="268443" y="543749"/>
            <a:chExt cx="8345241" cy="364174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05A101C-9B66-CA4D-87CF-A6F3F9B3A073}"/>
                </a:ext>
              </a:extLst>
            </p:cNvPr>
            <p:cNvGrpSpPr/>
            <p:nvPr/>
          </p:nvGrpSpPr>
          <p:grpSpPr>
            <a:xfrm>
              <a:off x="268443" y="1262253"/>
              <a:ext cx="8345241" cy="2923244"/>
              <a:chOff x="433087" y="909327"/>
              <a:chExt cx="8345241" cy="2923244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3A9C684-EC48-7647-BFC1-E18D22F833F9}"/>
                  </a:ext>
                </a:extLst>
              </p:cNvPr>
              <p:cNvSpPr/>
              <p:nvPr/>
            </p:nvSpPr>
            <p:spPr>
              <a:xfrm>
                <a:off x="2751172" y="909967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2012 – 2019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A31CBF-7F8F-2C44-8B62-C7620DE1F1FF}"/>
                  </a:ext>
                </a:extLst>
              </p:cNvPr>
              <p:cNvSpPr txBox="1"/>
              <p:nvPr/>
            </p:nvSpPr>
            <p:spPr>
              <a:xfrm>
                <a:off x="433090" y="909327"/>
                <a:ext cx="2318083" cy="30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Versions Supported: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A1B137-B637-5640-89C6-43C676083EB2}"/>
                  </a:ext>
                </a:extLst>
              </p:cNvPr>
              <p:cNvSpPr txBox="1"/>
              <p:nvPr/>
            </p:nvSpPr>
            <p:spPr>
              <a:xfrm>
                <a:off x="433090" y="1261927"/>
                <a:ext cx="2318083" cy="30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Editions Supported: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B39AC90-1038-F94D-B07C-8C11D0ADBA9E}"/>
                  </a:ext>
                </a:extLst>
              </p:cNvPr>
              <p:cNvSpPr txBox="1"/>
              <p:nvPr/>
            </p:nvSpPr>
            <p:spPr>
              <a:xfrm>
                <a:off x="433089" y="1612188"/>
                <a:ext cx="2318083" cy="30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High Availability: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058342-AE66-6B43-99E0-A26F5DDD6E41}"/>
                  </a:ext>
                </a:extLst>
              </p:cNvPr>
              <p:cNvSpPr txBox="1"/>
              <p:nvPr/>
            </p:nvSpPr>
            <p:spPr>
              <a:xfrm>
                <a:off x="433088" y="1995729"/>
                <a:ext cx="2318083" cy="30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Encryption: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76127C-8F5C-B94E-9366-C1B214D81D6C}"/>
                  </a:ext>
                </a:extLst>
              </p:cNvPr>
              <p:cNvSpPr txBox="1"/>
              <p:nvPr/>
            </p:nvSpPr>
            <p:spPr>
              <a:xfrm>
                <a:off x="433087" y="2377716"/>
                <a:ext cx="2318083" cy="30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Authentication: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73424A-0A52-9B42-B30E-08E8BB3E99A9}"/>
                  </a:ext>
                </a:extLst>
              </p:cNvPr>
              <p:cNvSpPr txBox="1"/>
              <p:nvPr/>
            </p:nvSpPr>
            <p:spPr>
              <a:xfrm>
                <a:off x="433091" y="3148331"/>
                <a:ext cx="2318083" cy="30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Backups: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F898AA-40D4-8447-AA3E-969B04A8C559}"/>
                  </a:ext>
                </a:extLst>
              </p:cNvPr>
              <p:cNvSpPr txBox="1"/>
              <p:nvPr/>
            </p:nvSpPr>
            <p:spPr>
              <a:xfrm>
                <a:off x="433090" y="3495080"/>
                <a:ext cx="2318083" cy="301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8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Maintenance: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87F08E2F-0181-4741-82DF-6B5C12AFCAB2}"/>
                  </a:ext>
                </a:extLst>
              </p:cNvPr>
              <p:cNvSpPr/>
              <p:nvPr/>
            </p:nvSpPr>
            <p:spPr>
              <a:xfrm>
                <a:off x="2751172" y="1270551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Express, Web, Standard, Enterprise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BF2BD862-63CE-C146-B4BB-74EEADA0DE04}"/>
                  </a:ext>
                </a:extLst>
              </p:cNvPr>
              <p:cNvSpPr/>
              <p:nvPr/>
            </p:nvSpPr>
            <p:spPr>
              <a:xfrm>
                <a:off x="5830928" y="909967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All</a:t>
                </a: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981C8330-D43E-164F-BA3D-F2B268BE3BB2}"/>
                  </a:ext>
                </a:extLst>
              </p:cNvPr>
              <p:cNvSpPr/>
              <p:nvPr/>
            </p:nvSpPr>
            <p:spPr>
              <a:xfrm>
                <a:off x="5830928" y="1271389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All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96AB298-B715-1740-85F4-DAD4167C5383}"/>
                  </a:ext>
                </a:extLst>
              </p:cNvPr>
              <p:cNvSpPr/>
              <p:nvPr/>
            </p:nvSpPr>
            <p:spPr>
              <a:xfrm>
                <a:off x="2754295" y="1633899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AWS-managed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ED68EF63-46A8-5F49-A29B-11D3C54085EE}"/>
                  </a:ext>
                </a:extLst>
              </p:cNvPr>
              <p:cNvSpPr/>
              <p:nvPr/>
            </p:nvSpPr>
            <p:spPr>
              <a:xfrm>
                <a:off x="2754421" y="2005600"/>
                <a:ext cx="6023907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TDE, Column-level, Always Encrypted, TLS, EBS encryption</a:t>
                </a:r>
              </a:p>
            </p:txBody>
          </p:sp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88829C0D-238C-0541-B160-370878EF93DC}"/>
                  </a:ext>
                </a:extLst>
              </p:cNvPr>
              <p:cNvSpPr/>
              <p:nvPr/>
            </p:nvSpPr>
            <p:spPr>
              <a:xfrm>
                <a:off x="5830928" y="1632811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Self-managed; AlwaysOn, Mirroring…</a:t>
                </a: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00AB7EF4-A0FA-414C-B4EE-F4D10E2D413B}"/>
                  </a:ext>
                </a:extLst>
              </p:cNvPr>
              <p:cNvSpPr/>
              <p:nvPr/>
            </p:nvSpPr>
            <p:spPr>
              <a:xfrm>
                <a:off x="2751173" y="2387144"/>
                <a:ext cx="6023906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Windows &amp; SQL Authentication</a:t>
                </a: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F40C44ED-B6E0-2E4F-96E7-AC94E3165B8E}"/>
                  </a:ext>
                </a:extLst>
              </p:cNvPr>
              <p:cNvSpPr/>
              <p:nvPr/>
            </p:nvSpPr>
            <p:spPr>
              <a:xfrm>
                <a:off x="2751172" y="3145184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AWS- managed</a:t>
                </a: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7172865D-3CB9-634D-8268-E8DB930A8D37}"/>
                  </a:ext>
                </a:extLst>
              </p:cNvPr>
              <p:cNvSpPr/>
              <p:nvPr/>
            </p:nvSpPr>
            <p:spPr>
              <a:xfrm>
                <a:off x="5830928" y="3145184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Self-managed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CA229A7E-2BD9-734C-BD88-C034026AB26F}"/>
                  </a:ext>
                </a:extLst>
              </p:cNvPr>
              <p:cNvSpPr/>
              <p:nvPr/>
            </p:nvSpPr>
            <p:spPr>
              <a:xfrm>
                <a:off x="2751172" y="3526496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AWS- managed</a:t>
                </a: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B612818C-DC89-B749-A0CF-2CD7E9592F6C}"/>
                  </a:ext>
                </a:extLst>
              </p:cNvPr>
              <p:cNvSpPr/>
              <p:nvPr/>
            </p:nvSpPr>
            <p:spPr>
              <a:xfrm>
                <a:off x="5830928" y="3526496"/>
                <a:ext cx="2944151" cy="306075"/>
              </a:xfrm>
              <a:prstGeom prst="roundRect">
                <a:avLst>
                  <a:gd name="adj" fmla="val 1745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920" dirty="0">
                    <a:solidFill>
                      <a:schemeClr val="tx1"/>
                    </a:solidFill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Self-managed</a:t>
                </a: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A17B910-69E8-3F44-86E9-17DAD8F37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6528" y="594657"/>
              <a:ext cx="521366" cy="60282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8B9C432-0AB6-5F4A-9891-30B748525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6284" y="543749"/>
              <a:ext cx="544781" cy="653737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6CA43B6-3F01-9446-B3E1-0F8DE954F1D5}"/>
                </a:ext>
              </a:extLst>
            </p:cNvPr>
            <p:cNvSpPr txBox="1"/>
            <p:nvPr/>
          </p:nvSpPr>
          <p:spPr>
            <a:xfrm>
              <a:off x="3107894" y="715070"/>
              <a:ext cx="2249739" cy="372894"/>
            </a:xfrm>
            <a:prstGeom prst="rect">
              <a:avLst/>
            </a:prstGeom>
          </p:spPr>
          <p:txBody>
            <a:bodyPr vert="horz" lIns="182880" tIns="146304" rIns="182880" bIns="146304" rtlCol="0" anchor="t">
              <a:noAutofit/>
            </a:bodyPr>
            <a:lstStyle>
              <a:lvl1pPr defTabSz="1097280">
                <a:lnSpc>
                  <a:spcPct val="90000"/>
                </a:lnSpc>
                <a:spcBef>
                  <a:spcPct val="0"/>
                </a:spcBef>
                <a:buNone/>
                <a:defRPr sz="4400" b="1" spc="80">
                  <a:latin typeface="Amazon Ember Light" panose="020B0403020204020204" pitchFamily="34" charset="0"/>
                  <a:ea typeface="Amazon Ember Light" panose="020B0403020204020204" pitchFamily="34" charset="0"/>
                  <a:cs typeface="Amazon Ember Light" panose="020B0403020204020204" pitchFamily="34" charset="0"/>
                </a:defRPr>
              </a:lvl1pPr>
            </a:lstStyle>
            <a:p>
              <a:r>
                <a:rPr lang="en-US" sz="3600" dirty="0"/>
                <a:t>Amazon RDS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95E859-C4B4-F545-9A25-BE44B1D7426D}"/>
                </a:ext>
              </a:extLst>
            </p:cNvPr>
            <p:cNvSpPr txBox="1"/>
            <p:nvPr/>
          </p:nvSpPr>
          <p:spPr>
            <a:xfrm>
              <a:off x="6187650" y="685951"/>
              <a:ext cx="2249739" cy="372894"/>
            </a:xfrm>
            <a:prstGeom prst="rect">
              <a:avLst/>
            </a:prstGeom>
          </p:spPr>
          <p:txBody>
            <a:bodyPr vert="horz" lIns="182880" tIns="146304" rIns="182880" bIns="146304" rtlCol="0" anchor="t">
              <a:noAutofit/>
            </a:bodyPr>
            <a:lstStyle>
              <a:defPPr>
                <a:defRPr lang="en-US"/>
              </a:defPPr>
              <a:lvl1pPr defTabSz="1097280">
                <a:lnSpc>
                  <a:spcPct val="90000"/>
                </a:lnSpc>
                <a:spcBef>
                  <a:spcPct val="0"/>
                </a:spcBef>
                <a:buNone/>
                <a:defRPr sz="3600" b="1" spc="80">
                  <a:latin typeface="Amazon Ember Light" panose="020B0403020204020204" pitchFamily="34" charset="0"/>
                  <a:ea typeface="Amazon Ember Light" panose="020B0403020204020204" pitchFamily="34" charset="0"/>
                  <a:cs typeface="Amazon Ember Light" panose="020B0403020204020204" pitchFamily="34" charset="0"/>
                </a:defRPr>
              </a:lvl1pPr>
            </a:lstStyle>
            <a:p>
              <a:r>
                <a:rPr lang="en-US" dirty="0"/>
                <a:t>Amazon EC2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273424A-0A52-9B42-B30E-08E8BB3E99A9}"/>
              </a:ext>
            </a:extLst>
          </p:cNvPr>
          <p:cNvSpPr txBox="1"/>
          <p:nvPr/>
        </p:nvSpPr>
        <p:spPr>
          <a:xfrm>
            <a:off x="429508" y="5516751"/>
            <a:ext cx="3708933" cy="523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BI Stack: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40C44ED-B6E0-2E4F-96E7-AC94E3165B8E}"/>
              </a:ext>
            </a:extLst>
          </p:cNvPr>
          <p:cNvSpPr/>
          <p:nvPr/>
        </p:nvSpPr>
        <p:spPr>
          <a:xfrm>
            <a:off x="4145938" y="5518108"/>
            <a:ext cx="4710642" cy="530514"/>
          </a:xfrm>
          <a:prstGeom prst="roundRect">
            <a:avLst>
              <a:gd name="adj" fmla="val 17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2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SSIS, SSRS, SSAS (tabular)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40C44ED-B6E0-2E4F-96E7-AC94E3165B8E}"/>
              </a:ext>
            </a:extLst>
          </p:cNvPr>
          <p:cNvSpPr/>
          <p:nvPr/>
        </p:nvSpPr>
        <p:spPr>
          <a:xfrm>
            <a:off x="9066055" y="5514462"/>
            <a:ext cx="4710642" cy="530514"/>
          </a:xfrm>
          <a:prstGeom prst="roundRect">
            <a:avLst>
              <a:gd name="adj" fmla="val 17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20" dirty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28647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786" y="463791"/>
            <a:ext cx="13982827" cy="1079598"/>
          </a:xfrm>
        </p:spPr>
        <p:txBody>
          <a:bodyPr vert="horz" lIns="182880" tIns="146304" rIns="182880" bIns="146304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Amazon RDS with SQL Server</a:t>
            </a:r>
          </a:p>
        </p:txBody>
      </p:sp>
      <p:pic>
        <p:nvPicPr>
          <p:cNvPr id="3" name="Graphic 15">
            <a:extLst>
              <a:ext uri="{FF2B5EF4-FFF2-40B4-BE49-F238E27FC236}">
                <a16:creationId xmlns:a16="http://schemas.microsoft.com/office/drawing/2014/main" id="{C74B9571-CBCE-0B41-BB93-C639C1D06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6195" y="2666208"/>
            <a:ext cx="2926080" cy="2926080"/>
          </a:xfrm>
          <a:prstGeom prst="rect">
            <a:avLst/>
          </a:prstGeom>
        </p:spPr>
      </p:pic>
      <p:pic>
        <p:nvPicPr>
          <p:cNvPr id="4" name="Graphic 95">
            <a:extLst>
              <a:ext uri="{FF2B5EF4-FFF2-40B4-BE49-F238E27FC236}">
                <a16:creationId xmlns:a16="http://schemas.microsoft.com/office/drawing/2014/main" id="{84753298-8732-9142-8A1E-BD05F56924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2656" y="2666208"/>
            <a:ext cx="292608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17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786" y="382489"/>
            <a:ext cx="13982827" cy="1079598"/>
          </a:xfrm>
        </p:spPr>
        <p:txBody>
          <a:bodyPr vert="horz" lIns="182880" tIns="146304" rIns="182880" bIns="146304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Amazon RDS: Hassle-free flexibility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647700" y="1695450"/>
            <a:ext cx="13982700" cy="5072063"/>
          </a:xfrm>
        </p:spPr>
        <p:txBody>
          <a:bodyPr/>
          <a:lstStyle/>
          <a:p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Instance type selection:</a:t>
            </a:r>
          </a:p>
          <a:p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	t3 instances for lower cost</a:t>
            </a:r>
          </a:p>
          <a:p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	m5/m5d instances</a:t>
            </a:r>
          </a:p>
          <a:p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	r5/z1d/x1e instances for more RAM</a:t>
            </a:r>
          </a:p>
          <a:p>
            <a:endParaRPr lang="en-US" dirty="0"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EBS volume type selection:</a:t>
            </a:r>
          </a:p>
          <a:p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	GP2 volumes for lower cost</a:t>
            </a:r>
          </a:p>
          <a:p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	IO1 volumes for I/O intensive, critical workloads</a:t>
            </a:r>
          </a:p>
          <a:p>
            <a:endParaRPr lang="en-US" dirty="0"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7FD609-ED24-5C47-8828-AFA135BB868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0446" y="1443798"/>
            <a:ext cx="3879950" cy="305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617" y="501635"/>
            <a:ext cx="13167360" cy="731521"/>
          </a:xfrm>
        </p:spPr>
        <p:txBody>
          <a:bodyPr vert="horz" lIns="182880" tIns="146304" rIns="182880" bIns="146304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Compute and Storage Scaling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3788431-C95F-D047-8003-C939551C9B26}"/>
              </a:ext>
            </a:extLst>
          </p:cNvPr>
          <p:cNvGrpSpPr/>
          <p:nvPr/>
        </p:nvGrpSpPr>
        <p:grpSpPr>
          <a:xfrm>
            <a:off x="401805" y="2015583"/>
            <a:ext cx="13265544" cy="4645335"/>
            <a:chOff x="443042" y="1119206"/>
            <a:chExt cx="8290965" cy="290333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AAD9ADB-43D9-FE42-87EF-F7FB51C79136}"/>
                </a:ext>
              </a:extLst>
            </p:cNvPr>
            <p:cNvSpPr/>
            <p:nvPr/>
          </p:nvSpPr>
          <p:spPr>
            <a:xfrm>
              <a:off x="6146756" y="1119206"/>
              <a:ext cx="2587251" cy="2887458"/>
            </a:xfrm>
            <a:prstGeom prst="roundRect">
              <a:avLst>
                <a:gd name="adj" fmla="val 306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08" dirty="0">
                <a:solidFill>
                  <a:schemeClr val="tx1"/>
                </a:solidFill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23580CD-E5A5-174F-A418-407FF716DD48}"/>
                </a:ext>
              </a:extLst>
            </p:cNvPr>
            <p:cNvSpPr/>
            <p:nvPr/>
          </p:nvSpPr>
          <p:spPr>
            <a:xfrm>
              <a:off x="3332301" y="1135081"/>
              <a:ext cx="2587251" cy="2887458"/>
            </a:xfrm>
            <a:prstGeom prst="roundRect">
              <a:avLst>
                <a:gd name="adj" fmla="val 306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08" dirty="0">
                <a:solidFill>
                  <a:schemeClr val="tx1"/>
                </a:solidFill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68F1C35A-D04F-B04B-B25E-6B84695C862C}"/>
                </a:ext>
              </a:extLst>
            </p:cNvPr>
            <p:cNvSpPr/>
            <p:nvPr/>
          </p:nvSpPr>
          <p:spPr>
            <a:xfrm>
              <a:off x="541741" y="1135081"/>
              <a:ext cx="2587251" cy="2887458"/>
            </a:xfrm>
            <a:prstGeom prst="roundRect">
              <a:avLst>
                <a:gd name="adj" fmla="val 306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608" dirty="0">
                <a:solidFill>
                  <a:schemeClr val="tx1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4A34BDD-664F-D24F-B457-8A99F05252FE}"/>
                </a:ext>
              </a:extLst>
            </p:cNvPr>
            <p:cNvGrpSpPr/>
            <p:nvPr/>
          </p:nvGrpSpPr>
          <p:grpSpPr>
            <a:xfrm>
              <a:off x="4191223" y="1647322"/>
              <a:ext cx="770705" cy="482907"/>
              <a:chOff x="4440504" y="1785560"/>
              <a:chExt cx="770705" cy="482907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05A0BC-78AE-FD43-BFD6-99CC104742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99535" y="2007467"/>
                <a:ext cx="157531" cy="147522"/>
              </a:xfrm>
              <a:prstGeom prst="line">
                <a:avLst/>
              </a:prstGeom>
              <a:solidFill>
                <a:srgbClr val="737472"/>
              </a:solidFill>
              <a:ln w="22225" cap="rnd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5DE8464-BA0F-5442-A47A-41C53E92A9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74097" y="1966615"/>
                <a:ext cx="181658" cy="38583"/>
              </a:xfrm>
              <a:prstGeom prst="line">
                <a:avLst/>
              </a:prstGeom>
              <a:solidFill>
                <a:srgbClr val="737472"/>
              </a:solidFill>
              <a:ln w="22225" cap="rnd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544770F-627F-AE4B-8676-1548EE88E4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67108" y="1825902"/>
                <a:ext cx="124890" cy="128230"/>
              </a:xfrm>
              <a:prstGeom prst="line">
                <a:avLst/>
              </a:prstGeom>
              <a:solidFill>
                <a:srgbClr val="737472"/>
              </a:solidFill>
              <a:ln w="22225" cap="rnd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CA152C-108E-D141-9EF9-872EAD5F73C0}"/>
                  </a:ext>
                </a:extLst>
              </p:cNvPr>
              <p:cNvSpPr/>
              <p:nvPr/>
            </p:nvSpPr>
            <p:spPr>
              <a:xfrm>
                <a:off x="4705708" y="2116644"/>
                <a:ext cx="101969" cy="73448"/>
              </a:xfrm>
              <a:prstGeom prst="rect">
                <a:avLst/>
              </a:prstGeom>
              <a:solidFill>
                <a:schemeClr val="bg1"/>
              </a:solidFill>
              <a:ln w="22225" cap="rnd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en-US" sz="4608" i="1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3F99074-50CF-334D-92E4-EE705A26390E}"/>
                  </a:ext>
                </a:extLst>
              </p:cNvPr>
              <p:cNvSpPr/>
              <p:nvPr/>
            </p:nvSpPr>
            <p:spPr>
              <a:xfrm>
                <a:off x="4871045" y="2052859"/>
                <a:ext cx="101969" cy="137233"/>
              </a:xfrm>
              <a:prstGeom prst="rect">
                <a:avLst/>
              </a:prstGeom>
              <a:noFill/>
              <a:ln w="22225" cap="rnd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608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CAF652D-E02A-8D4A-94E8-2CA2CEDF9E9A}"/>
                  </a:ext>
                </a:extLst>
              </p:cNvPr>
              <p:cNvSpPr/>
              <p:nvPr/>
            </p:nvSpPr>
            <p:spPr>
              <a:xfrm>
                <a:off x="5036381" y="1968885"/>
                <a:ext cx="101969" cy="221208"/>
              </a:xfrm>
              <a:prstGeom prst="rect">
                <a:avLst/>
              </a:prstGeom>
              <a:noFill/>
              <a:ln w="22225" cap="rnd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608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1EF7CE9-5420-5C43-A17A-F63684C74EE3}"/>
                  </a:ext>
                </a:extLst>
              </p:cNvPr>
              <p:cNvCxnSpPr/>
              <p:nvPr/>
            </p:nvCxnSpPr>
            <p:spPr>
              <a:xfrm>
                <a:off x="4508306" y="1785560"/>
                <a:ext cx="0" cy="482907"/>
              </a:xfrm>
              <a:prstGeom prst="line">
                <a:avLst/>
              </a:prstGeom>
              <a:solidFill>
                <a:srgbClr val="737472"/>
              </a:solidFill>
              <a:ln w="22225" cap="rnd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33A3DF9-EFF3-8343-9D29-DEF89320D1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40504" y="2216522"/>
                <a:ext cx="770705" cy="0"/>
              </a:xfrm>
              <a:prstGeom prst="line">
                <a:avLst/>
              </a:prstGeom>
              <a:solidFill>
                <a:srgbClr val="737472"/>
              </a:solidFill>
              <a:ln w="22225" cap="rnd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6372BF2-C6CD-464B-9B3D-F46859EF00D4}"/>
                  </a:ext>
                </a:extLst>
              </p:cNvPr>
              <p:cNvSpPr/>
              <p:nvPr/>
            </p:nvSpPr>
            <p:spPr>
              <a:xfrm>
                <a:off x="4556065" y="2117712"/>
                <a:ext cx="66314" cy="69936"/>
              </a:xfrm>
              <a:prstGeom prst="ellipse">
                <a:avLst/>
              </a:prstGeom>
              <a:solidFill>
                <a:schemeClr val="bg1"/>
              </a:solidFill>
              <a:ln w="22225" cap="rnd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608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8482ECBD-8561-D849-A80B-6EECE3397D61}"/>
                  </a:ext>
                </a:extLst>
              </p:cNvPr>
              <p:cNvSpPr/>
              <p:nvPr/>
            </p:nvSpPr>
            <p:spPr>
              <a:xfrm>
                <a:off x="4719274" y="1974730"/>
                <a:ext cx="66314" cy="69936"/>
              </a:xfrm>
              <a:prstGeom prst="ellipse">
                <a:avLst/>
              </a:prstGeom>
              <a:solidFill>
                <a:schemeClr val="bg1"/>
              </a:solidFill>
              <a:ln w="22225" cap="rnd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608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F82E76F-2FF4-5843-8007-5933D04A022F}"/>
                  </a:ext>
                </a:extLst>
              </p:cNvPr>
              <p:cNvSpPr/>
              <p:nvPr/>
            </p:nvSpPr>
            <p:spPr>
              <a:xfrm>
                <a:off x="4917022" y="1929338"/>
                <a:ext cx="66314" cy="69936"/>
              </a:xfrm>
              <a:prstGeom prst="ellipse">
                <a:avLst/>
              </a:prstGeom>
              <a:solidFill>
                <a:schemeClr val="bg1"/>
              </a:solidFill>
              <a:ln w="22225" cap="rnd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608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2F2D2A1-6E60-C94A-BECF-5BD3F6700311}"/>
                  </a:ext>
                </a:extLst>
              </p:cNvPr>
              <p:cNvSpPr/>
              <p:nvPr/>
            </p:nvSpPr>
            <p:spPr>
              <a:xfrm>
                <a:off x="5045690" y="1793165"/>
                <a:ext cx="66314" cy="69936"/>
              </a:xfrm>
              <a:prstGeom prst="ellipse">
                <a:avLst/>
              </a:prstGeom>
              <a:solidFill>
                <a:schemeClr val="bg1"/>
              </a:solidFill>
              <a:ln w="22225" cap="rnd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608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54984F0-0D3E-5D4C-92F3-B4EBA7EC4698}"/>
                </a:ext>
              </a:extLst>
            </p:cNvPr>
            <p:cNvGrpSpPr/>
            <p:nvPr/>
          </p:nvGrpSpPr>
          <p:grpSpPr>
            <a:xfrm>
              <a:off x="7137850" y="1589799"/>
              <a:ext cx="557272" cy="597952"/>
              <a:chOff x="6726960" y="2207128"/>
              <a:chExt cx="779697" cy="836613"/>
            </a:xfrm>
          </p:grpSpPr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8A8FAB5D-E3DD-1248-B573-DD8819C07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6960" y="2207128"/>
                <a:ext cx="644525" cy="836613"/>
              </a:xfrm>
              <a:custGeom>
                <a:avLst/>
                <a:gdLst>
                  <a:gd name="T0" fmla="*/ 143 w 193"/>
                  <a:gd name="T1" fmla="*/ 20 h 250"/>
                  <a:gd name="T2" fmla="*/ 143 w 193"/>
                  <a:gd name="T3" fmla="*/ 56 h 250"/>
                  <a:gd name="T4" fmla="*/ 61 w 193"/>
                  <a:gd name="T5" fmla="*/ 87 h 250"/>
                  <a:gd name="T6" fmla="*/ 156 w 193"/>
                  <a:gd name="T7" fmla="*/ 116 h 250"/>
                  <a:gd name="T8" fmla="*/ 178 w 193"/>
                  <a:gd name="T9" fmla="*/ 189 h 250"/>
                  <a:gd name="T10" fmla="*/ 146 w 193"/>
                  <a:gd name="T11" fmla="*/ 216 h 250"/>
                  <a:gd name="T12" fmla="*/ 153 w 193"/>
                  <a:gd name="T13" fmla="*/ 240 h 250"/>
                  <a:gd name="T14" fmla="*/ 117 w 193"/>
                  <a:gd name="T15" fmla="*/ 250 h 250"/>
                  <a:gd name="T16" fmla="*/ 109 w 193"/>
                  <a:gd name="T17" fmla="*/ 225 h 250"/>
                  <a:gd name="T18" fmla="*/ 56 w 193"/>
                  <a:gd name="T19" fmla="*/ 223 h 250"/>
                  <a:gd name="T20" fmla="*/ 63 w 193"/>
                  <a:gd name="T21" fmla="*/ 187 h 250"/>
                  <a:gd name="T22" fmla="*/ 149 w 193"/>
                  <a:gd name="T23" fmla="*/ 162 h 250"/>
                  <a:gd name="T24" fmla="*/ 34 w 193"/>
                  <a:gd name="T25" fmla="*/ 113 h 250"/>
                  <a:gd name="T26" fmla="*/ 63 w 193"/>
                  <a:gd name="T27" fmla="*/ 34 h 250"/>
                  <a:gd name="T28" fmla="*/ 56 w 193"/>
                  <a:gd name="T29" fmla="*/ 10 h 250"/>
                  <a:gd name="T30" fmla="*/ 92 w 193"/>
                  <a:gd name="T31" fmla="*/ 0 h 250"/>
                  <a:gd name="T32" fmla="*/ 100 w 193"/>
                  <a:gd name="T33" fmla="*/ 24 h 250"/>
                  <a:gd name="T34" fmla="*/ 143 w 193"/>
                  <a:gd name="T35" fmla="*/ 2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3" h="250">
                    <a:moveTo>
                      <a:pt x="143" y="20"/>
                    </a:moveTo>
                    <a:cubicBezTo>
                      <a:pt x="143" y="56"/>
                      <a:pt x="143" y="56"/>
                      <a:pt x="143" y="56"/>
                    </a:cubicBezTo>
                    <a:cubicBezTo>
                      <a:pt x="143" y="56"/>
                      <a:pt x="62" y="56"/>
                      <a:pt x="61" y="87"/>
                    </a:cubicBezTo>
                    <a:cubicBezTo>
                      <a:pt x="59" y="119"/>
                      <a:pt x="118" y="94"/>
                      <a:pt x="156" y="116"/>
                    </a:cubicBezTo>
                    <a:cubicBezTo>
                      <a:pt x="193" y="139"/>
                      <a:pt x="192" y="170"/>
                      <a:pt x="178" y="189"/>
                    </a:cubicBezTo>
                    <a:cubicBezTo>
                      <a:pt x="163" y="209"/>
                      <a:pt x="146" y="216"/>
                      <a:pt x="146" y="216"/>
                    </a:cubicBezTo>
                    <a:cubicBezTo>
                      <a:pt x="153" y="240"/>
                      <a:pt x="153" y="240"/>
                      <a:pt x="153" y="240"/>
                    </a:cubicBezTo>
                    <a:cubicBezTo>
                      <a:pt x="117" y="250"/>
                      <a:pt x="117" y="250"/>
                      <a:pt x="117" y="250"/>
                    </a:cubicBezTo>
                    <a:cubicBezTo>
                      <a:pt x="109" y="225"/>
                      <a:pt x="109" y="225"/>
                      <a:pt x="109" y="225"/>
                    </a:cubicBezTo>
                    <a:cubicBezTo>
                      <a:pt x="109" y="225"/>
                      <a:pt x="76" y="229"/>
                      <a:pt x="56" y="223"/>
                    </a:cubicBezTo>
                    <a:cubicBezTo>
                      <a:pt x="63" y="187"/>
                      <a:pt x="63" y="187"/>
                      <a:pt x="63" y="187"/>
                    </a:cubicBezTo>
                    <a:cubicBezTo>
                      <a:pt x="63" y="187"/>
                      <a:pt x="146" y="201"/>
                      <a:pt x="149" y="162"/>
                    </a:cubicBezTo>
                    <a:cubicBezTo>
                      <a:pt x="145" y="125"/>
                      <a:pt x="66" y="160"/>
                      <a:pt x="34" y="113"/>
                    </a:cubicBezTo>
                    <a:cubicBezTo>
                      <a:pt x="34" y="113"/>
                      <a:pt x="0" y="72"/>
                      <a:pt x="63" y="34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100" y="24"/>
                      <a:pt x="100" y="24"/>
                      <a:pt x="100" y="24"/>
                    </a:cubicBezTo>
                    <a:cubicBezTo>
                      <a:pt x="100" y="24"/>
                      <a:pt x="119" y="19"/>
                      <a:pt x="143" y="20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146304" tIns="73152" rIns="146304" bIns="73152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4608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9C52EED-3FCB-0647-BF9C-6B7A31EF7C46}"/>
                  </a:ext>
                </a:extLst>
              </p:cNvPr>
              <p:cNvGrpSpPr/>
              <p:nvPr/>
            </p:nvGrpSpPr>
            <p:grpSpPr>
              <a:xfrm flipV="1">
                <a:off x="7258446" y="2354579"/>
                <a:ext cx="248211" cy="448482"/>
                <a:chOff x="1492687" y="4343604"/>
                <a:chExt cx="1009742" cy="1824458"/>
              </a:xfrm>
            </p:grpSpPr>
            <p:sp>
              <p:nvSpPr>
                <p:cNvPr id="31" name="Freeform 750">
                  <a:extLst>
                    <a:ext uri="{FF2B5EF4-FFF2-40B4-BE49-F238E27FC236}">
                      <a16:creationId xmlns:a16="http://schemas.microsoft.com/office/drawing/2014/main" id="{8B52EB9D-E763-B448-87A5-00201B7381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492687" y="4343604"/>
                  <a:ext cx="1009742" cy="1364334"/>
                </a:xfrm>
                <a:custGeom>
                  <a:avLst/>
                  <a:gdLst>
                    <a:gd name="T0" fmla="*/ 814 w 2392"/>
                    <a:gd name="T1" fmla="*/ 1914 h 3232"/>
                    <a:gd name="T2" fmla="*/ 0 w 2392"/>
                    <a:gd name="T3" fmla="*/ 1914 h 3232"/>
                    <a:gd name="T4" fmla="*/ 1186 w 2392"/>
                    <a:gd name="T5" fmla="*/ 3232 h 3232"/>
                    <a:gd name="T6" fmla="*/ 2392 w 2392"/>
                    <a:gd name="T7" fmla="*/ 1914 h 3232"/>
                    <a:gd name="T8" fmla="*/ 1543 w 2392"/>
                    <a:gd name="T9" fmla="*/ 1914 h 3232"/>
                    <a:gd name="T10" fmla="*/ 1543 w 2392"/>
                    <a:gd name="T11" fmla="*/ 0 h 3232"/>
                    <a:gd name="T12" fmla="*/ 814 w 2392"/>
                    <a:gd name="T13" fmla="*/ 0 h 3232"/>
                    <a:gd name="T14" fmla="*/ 814 w 2392"/>
                    <a:gd name="T15" fmla="*/ 1914 h 3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392" h="3232">
                      <a:moveTo>
                        <a:pt x="814" y="1914"/>
                      </a:moveTo>
                      <a:lnTo>
                        <a:pt x="0" y="1914"/>
                      </a:lnTo>
                      <a:lnTo>
                        <a:pt x="1186" y="3232"/>
                      </a:lnTo>
                      <a:lnTo>
                        <a:pt x="2392" y="1914"/>
                      </a:lnTo>
                      <a:lnTo>
                        <a:pt x="1543" y="1914"/>
                      </a:lnTo>
                      <a:lnTo>
                        <a:pt x="1543" y="0"/>
                      </a:lnTo>
                      <a:lnTo>
                        <a:pt x="814" y="0"/>
                      </a:lnTo>
                      <a:lnTo>
                        <a:pt x="814" y="191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46304" tIns="73152" rIns="146304" bIns="73152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4608"/>
                </a:p>
              </p:txBody>
            </p:sp>
            <p:sp>
              <p:nvSpPr>
                <p:cNvPr id="32" name="Rectangle: Rounded Corners 59">
                  <a:extLst>
                    <a:ext uri="{FF2B5EF4-FFF2-40B4-BE49-F238E27FC236}">
                      <a16:creationId xmlns:a16="http://schemas.microsoft.com/office/drawing/2014/main" id="{D6546475-692A-3E4C-8703-1BAD2327AA95}"/>
                    </a:ext>
                  </a:extLst>
                </p:cNvPr>
                <p:cNvSpPr/>
                <p:nvPr/>
              </p:nvSpPr>
              <p:spPr>
                <a:xfrm>
                  <a:off x="1851099" y="5795908"/>
                  <a:ext cx="308157" cy="160922"/>
                </a:xfrm>
                <a:prstGeom prst="roundRect">
                  <a:avLst/>
                </a:prstGeom>
                <a:solidFill>
                  <a:srgbClr val="FFFFFF"/>
                </a:solidFill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46304" tIns="73152" rIns="146304" bIns="73152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4608" dirty="0"/>
                </a:p>
              </p:txBody>
            </p:sp>
            <p:sp>
              <p:nvSpPr>
                <p:cNvPr id="33" name="Rectangle: Rounded Corners 60">
                  <a:extLst>
                    <a:ext uri="{FF2B5EF4-FFF2-40B4-BE49-F238E27FC236}">
                      <a16:creationId xmlns:a16="http://schemas.microsoft.com/office/drawing/2014/main" id="{A2E397F7-AD60-B542-B8A7-606D341076FF}"/>
                    </a:ext>
                  </a:extLst>
                </p:cNvPr>
                <p:cNvSpPr/>
                <p:nvPr/>
              </p:nvSpPr>
              <p:spPr>
                <a:xfrm>
                  <a:off x="1843479" y="6044799"/>
                  <a:ext cx="308157" cy="123263"/>
                </a:xfrm>
                <a:prstGeom prst="roundRect">
                  <a:avLst/>
                </a:prstGeom>
                <a:solidFill>
                  <a:srgbClr val="FFFFFF"/>
                </a:solidFill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46304" tIns="73152" rIns="146304" bIns="73152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4608" dirty="0"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6B45560-F58A-5444-B571-6BF90D13FC71}"/>
                </a:ext>
              </a:extLst>
            </p:cNvPr>
            <p:cNvGrpSpPr/>
            <p:nvPr/>
          </p:nvGrpSpPr>
          <p:grpSpPr>
            <a:xfrm>
              <a:off x="1432500" y="1613637"/>
              <a:ext cx="596121" cy="584522"/>
              <a:chOff x="5263858" y="1683945"/>
              <a:chExt cx="596121" cy="584522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932E69F-5620-7147-B2D0-00996445C176}"/>
                  </a:ext>
                </a:extLst>
              </p:cNvPr>
              <p:cNvGrpSpPr/>
              <p:nvPr/>
            </p:nvGrpSpPr>
            <p:grpSpPr>
              <a:xfrm flipV="1">
                <a:off x="5263858" y="1683945"/>
                <a:ext cx="323503" cy="584522"/>
                <a:chOff x="1492687" y="4343604"/>
                <a:chExt cx="1009742" cy="1824458"/>
              </a:xfrm>
            </p:grpSpPr>
            <p:sp>
              <p:nvSpPr>
                <p:cNvPr id="40" name="Freeform 750">
                  <a:extLst>
                    <a:ext uri="{FF2B5EF4-FFF2-40B4-BE49-F238E27FC236}">
                      <a16:creationId xmlns:a16="http://schemas.microsoft.com/office/drawing/2014/main" id="{741440C4-3E41-274F-9E74-A2B24D4C72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492687" y="4343604"/>
                  <a:ext cx="1009742" cy="1364334"/>
                </a:xfrm>
                <a:custGeom>
                  <a:avLst/>
                  <a:gdLst>
                    <a:gd name="T0" fmla="*/ 814 w 2392"/>
                    <a:gd name="T1" fmla="*/ 1914 h 3232"/>
                    <a:gd name="T2" fmla="*/ 0 w 2392"/>
                    <a:gd name="T3" fmla="*/ 1914 h 3232"/>
                    <a:gd name="T4" fmla="*/ 1186 w 2392"/>
                    <a:gd name="T5" fmla="*/ 3232 h 3232"/>
                    <a:gd name="T6" fmla="*/ 2392 w 2392"/>
                    <a:gd name="T7" fmla="*/ 1914 h 3232"/>
                    <a:gd name="T8" fmla="*/ 1543 w 2392"/>
                    <a:gd name="T9" fmla="*/ 1914 h 3232"/>
                    <a:gd name="T10" fmla="*/ 1543 w 2392"/>
                    <a:gd name="T11" fmla="*/ 0 h 3232"/>
                    <a:gd name="T12" fmla="*/ 814 w 2392"/>
                    <a:gd name="T13" fmla="*/ 0 h 3232"/>
                    <a:gd name="T14" fmla="*/ 814 w 2392"/>
                    <a:gd name="T15" fmla="*/ 1914 h 3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392" h="3232">
                      <a:moveTo>
                        <a:pt x="814" y="1914"/>
                      </a:moveTo>
                      <a:lnTo>
                        <a:pt x="0" y="1914"/>
                      </a:lnTo>
                      <a:lnTo>
                        <a:pt x="1186" y="3232"/>
                      </a:lnTo>
                      <a:lnTo>
                        <a:pt x="2392" y="1914"/>
                      </a:lnTo>
                      <a:lnTo>
                        <a:pt x="1543" y="1914"/>
                      </a:lnTo>
                      <a:lnTo>
                        <a:pt x="1543" y="0"/>
                      </a:lnTo>
                      <a:lnTo>
                        <a:pt x="814" y="0"/>
                      </a:lnTo>
                      <a:lnTo>
                        <a:pt x="814" y="191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46304" tIns="73152" rIns="146304" bIns="73152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4608"/>
                </a:p>
              </p:txBody>
            </p:sp>
            <p:sp>
              <p:nvSpPr>
                <p:cNvPr id="41" name="Rectangle: Rounded Corners 65">
                  <a:extLst>
                    <a:ext uri="{FF2B5EF4-FFF2-40B4-BE49-F238E27FC236}">
                      <a16:creationId xmlns:a16="http://schemas.microsoft.com/office/drawing/2014/main" id="{2BC35DB6-0120-3642-BAE2-CE7E93F01986}"/>
                    </a:ext>
                  </a:extLst>
                </p:cNvPr>
                <p:cNvSpPr/>
                <p:nvPr/>
              </p:nvSpPr>
              <p:spPr>
                <a:xfrm>
                  <a:off x="1851099" y="5795908"/>
                  <a:ext cx="308157" cy="160922"/>
                </a:xfrm>
                <a:prstGeom prst="roundRect">
                  <a:avLst/>
                </a:prstGeom>
                <a:solidFill>
                  <a:srgbClr val="FFFFFF"/>
                </a:solidFill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46304" tIns="73152" rIns="146304" bIns="73152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4608" dirty="0"/>
                </a:p>
              </p:txBody>
            </p:sp>
            <p:sp>
              <p:nvSpPr>
                <p:cNvPr id="42" name="Rectangle: Rounded Corners 66">
                  <a:extLst>
                    <a:ext uri="{FF2B5EF4-FFF2-40B4-BE49-F238E27FC236}">
                      <a16:creationId xmlns:a16="http://schemas.microsoft.com/office/drawing/2014/main" id="{EFF79325-E18F-2449-B873-7171072FABB4}"/>
                    </a:ext>
                  </a:extLst>
                </p:cNvPr>
                <p:cNvSpPr/>
                <p:nvPr/>
              </p:nvSpPr>
              <p:spPr>
                <a:xfrm>
                  <a:off x="1843479" y="6044799"/>
                  <a:ext cx="308157" cy="123263"/>
                </a:xfrm>
                <a:prstGeom prst="roundRect">
                  <a:avLst/>
                </a:prstGeom>
                <a:solidFill>
                  <a:srgbClr val="FFFFFF"/>
                </a:solidFill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46304" tIns="73152" rIns="146304" bIns="73152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4608" dirty="0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BB0D98FD-D937-3D40-BEC7-AB966F2E4EB8}"/>
                  </a:ext>
                </a:extLst>
              </p:cNvPr>
              <p:cNvGrpSpPr/>
              <p:nvPr/>
            </p:nvGrpSpPr>
            <p:grpSpPr>
              <a:xfrm rot="10800000" flipV="1">
                <a:off x="5536476" y="1683945"/>
                <a:ext cx="323503" cy="584522"/>
                <a:chOff x="1492687" y="4343604"/>
                <a:chExt cx="1009742" cy="1824458"/>
              </a:xfrm>
            </p:grpSpPr>
            <p:sp>
              <p:nvSpPr>
                <p:cNvPr id="37" name="Freeform 750">
                  <a:extLst>
                    <a:ext uri="{FF2B5EF4-FFF2-40B4-BE49-F238E27FC236}">
                      <a16:creationId xmlns:a16="http://schemas.microsoft.com/office/drawing/2014/main" id="{8DD4F1DA-D005-D444-8C74-1753BAC980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1492687" y="4343604"/>
                  <a:ext cx="1009742" cy="1364334"/>
                </a:xfrm>
                <a:custGeom>
                  <a:avLst/>
                  <a:gdLst>
                    <a:gd name="T0" fmla="*/ 814 w 2392"/>
                    <a:gd name="T1" fmla="*/ 1914 h 3232"/>
                    <a:gd name="T2" fmla="*/ 0 w 2392"/>
                    <a:gd name="T3" fmla="*/ 1914 h 3232"/>
                    <a:gd name="T4" fmla="*/ 1186 w 2392"/>
                    <a:gd name="T5" fmla="*/ 3232 h 3232"/>
                    <a:gd name="T6" fmla="*/ 2392 w 2392"/>
                    <a:gd name="T7" fmla="*/ 1914 h 3232"/>
                    <a:gd name="T8" fmla="*/ 1543 w 2392"/>
                    <a:gd name="T9" fmla="*/ 1914 h 3232"/>
                    <a:gd name="T10" fmla="*/ 1543 w 2392"/>
                    <a:gd name="T11" fmla="*/ 0 h 3232"/>
                    <a:gd name="T12" fmla="*/ 814 w 2392"/>
                    <a:gd name="T13" fmla="*/ 0 h 3232"/>
                    <a:gd name="T14" fmla="*/ 814 w 2392"/>
                    <a:gd name="T15" fmla="*/ 1914 h 3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392" h="3232">
                      <a:moveTo>
                        <a:pt x="814" y="1914"/>
                      </a:moveTo>
                      <a:lnTo>
                        <a:pt x="0" y="1914"/>
                      </a:lnTo>
                      <a:lnTo>
                        <a:pt x="1186" y="3232"/>
                      </a:lnTo>
                      <a:lnTo>
                        <a:pt x="2392" y="1914"/>
                      </a:lnTo>
                      <a:lnTo>
                        <a:pt x="1543" y="1914"/>
                      </a:lnTo>
                      <a:lnTo>
                        <a:pt x="1543" y="0"/>
                      </a:lnTo>
                      <a:lnTo>
                        <a:pt x="814" y="0"/>
                      </a:lnTo>
                      <a:lnTo>
                        <a:pt x="814" y="191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46304" tIns="73152" rIns="146304" bIns="73152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4608"/>
                </a:p>
              </p:txBody>
            </p:sp>
            <p:sp>
              <p:nvSpPr>
                <p:cNvPr id="38" name="Rectangle: Rounded Corners 69">
                  <a:extLst>
                    <a:ext uri="{FF2B5EF4-FFF2-40B4-BE49-F238E27FC236}">
                      <a16:creationId xmlns:a16="http://schemas.microsoft.com/office/drawing/2014/main" id="{14D0D150-0CD4-4D4C-BECC-7896B14FB3A0}"/>
                    </a:ext>
                  </a:extLst>
                </p:cNvPr>
                <p:cNvSpPr/>
                <p:nvPr/>
              </p:nvSpPr>
              <p:spPr>
                <a:xfrm>
                  <a:off x="1851099" y="5795908"/>
                  <a:ext cx="308157" cy="160922"/>
                </a:xfrm>
                <a:prstGeom prst="roundRect">
                  <a:avLst/>
                </a:prstGeom>
                <a:solidFill>
                  <a:srgbClr val="FFFFFF"/>
                </a:solidFill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46304" tIns="73152" rIns="146304" bIns="73152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4608" dirty="0"/>
                </a:p>
              </p:txBody>
            </p:sp>
            <p:sp>
              <p:nvSpPr>
                <p:cNvPr id="39" name="Rectangle: Rounded Corners 70">
                  <a:extLst>
                    <a:ext uri="{FF2B5EF4-FFF2-40B4-BE49-F238E27FC236}">
                      <a16:creationId xmlns:a16="http://schemas.microsoft.com/office/drawing/2014/main" id="{44B7C175-49BB-444B-A4AA-B435B5328EC0}"/>
                    </a:ext>
                  </a:extLst>
                </p:cNvPr>
                <p:cNvSpPr/>
                <p:nvPr/>
              </p:nvSpPr>
              <p:spPr>
                <a:xfrm>
                  <a:off x="1843479" y="6044799"/>
                  <a:ext cx="308157" cy="123263"/>
                </a:xfrm>
                <a:prstGeom prst="roundRect">
                  <a:avLst/>
                </a:prstGeom>
                <a:solidFill>
                  <a:srgbClr val="FFFFFF"/>
                </a:solidFill>
                <a:ln w="19050" cap="rnd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146304" tIns="73152" rIns="146304" bIns="73152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4608" dirty="0"/>
                </a:p>
              </p:txBody>
            </p:sp>
          </p:grpSp>
        </p:grpSp>
        <p:sp>
          <p:nvSpPr>
            <p:cNvPr id="43" name="Text Placeholder 3">
              <a:extLst>
                <a:ext uri="{FF2B5EF4-FFF2-40B4-BE49-F238E27FC236}">
                  <a16:creationId xmlns:a16="http://schemas.microsoft.com/office/drawing/2014/main" id="{E95BE0D6-C9C1-F44D-A48A-34FFBDFA530D}"/>
                </a:ext>
              </a:extLst>
            </p:cNvPr>
            <p:cNvSpPr txBox="1">
              <a:spLocks/>
            </p:cNvSpPr>
            <p:nvPr/>
          </p:nvSpPr>
          <p:spPr>
            <a:xfrm>
              <a:off x="443042" y="2526135"/>
              <a:ext cx="2587250" cy="34094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1pPr>
              <a:lvl2pPr marL="342900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2000" kern="1200" dirty="0" smtClean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2pPr>
              <a:lvl3pPr marL="638175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1800" kern="1200" dirty="0" smtClean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3pPr>
              <a:lvl4pPr marL="922338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1800" kern="1200" dirty="0" smtClean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4pPr>
              <a:lvl5pPr marL="1189038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1800" kern="1200" dirty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920" b="1" dirty="0">
                  <a:solidFill>
                    <a:schemeClr val="tx1"/>
                  </a:solidFill>
                </a:rPr>
                <a:t>Scale Compute to </a:t>
              </a:r>
            </a:p>
            <a:p>
              <a:pPr algn="ctr"/>
              <a:r>
                <a:rPr lang="en-US" sz="1920" b="1" dirty="0">
                  <a:solidFill>
                    <a:schemeClr val="tx1"/>
                  </a:solidFill>
                </a:rPr>
                <a:t>Handle Increased Load</a:t>
              </a:r>
            </a:p>
            <a:p>
              <a:pPr algn="ctr"/>
              <a:r>
                <a:rPr lang="en-US" sz="1920" dirty="0">
                  <a:solidFill>
                    <a:schemeClr val="tx1"/>
                  </a:solidFill>
                </a:rPr>
                <a:t>Up to 128 vCPUs</a:t>
              </a:r>
            </a:p>
            <a:p>
              <a:pPr algn="ctr"/>
              <a:r>
                <a:rPr lang="en-US" sz="1920" dirty="0">
                  <a:solidFill>
                    <a:schemeClr val="tx1"/>
                  </a:solidFill>
                </a:rPr>
                <a:t>4TiB of RAM </a:t>
              </a:r>
            </a:p>
          </p:txBody>
        </p:sp>
        <p:sp>
          <p:nvSpPr>
            <p:cNvPr id="44" name="Text Placeholder 4">
              <a:extLst>
                <a:ext uri="{FF2B5EF4-FFF2-40B4-BE49-F238E27FC236}">
                  <a16:creationId xmlns:a16="http://schemas.microsoft.com/office/drawing/2014/main" id="{3A154E89-004E-5D40-B58F-83B2F95547AD}"/>
                </a:ext>
              </a:extLst>
            </p:cNvPr>
            <p:cNvSpPr txBox="1">
              <a:spLocks/>
            </p:cNvSpPr>
            <p:nvPr/>
          </p:nvSpPr>
          <p:spPr>
            <a:xfrm>
              <a:off x="3282951" y="2526135"/>
              <a:ext cx="2587251" cy="34094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1pPr>
              <a:lvl2pPr marL="342900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2000" kern="1200" dirty="0" smtClean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2pPr>
              <a:lvl3pPr marL="638175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1800" kern="1200" dirty="0" smtClean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3pPr>
              <a:lvl4pPr marL="922338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1800" kern="1200" dirty="0" smtClean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4pPr>
              <a:lvl5pPr marL="1189038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1800" kern="1200" dirty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920" b="1" dirty="0">
                  <a:solidFill>
                    <a:schemeClr val="tx1"/>
                  </a:solidFill>
                </a:rPr>
                <a:t>Scale Storage for </a:t>
              </a:r>
            </a:p>
            <a:p>
              <a:pPr algn="ctr"/>
              <a:r>
                <a:rPr lang="en-US" sz="1920" b="1" dirty="0">
                  <a:solidFill>
                    <a:schemeClr val="tx1"/>
                  </a:solidFill>
                </a:rPr>
                <a:t>Larger Data Sets </a:t>
              </a:r>
            </a:p>
            <a:p>
              <a:pPr algn="ctr"/>
              <a:r>
                <a:rPr lang="en-US" sz="1920" dirty="0">
                  <a:solidFill>
                    <a:schemeClr val="tx1"/>
                  </a:solidFill>
                </a:rPr>
                <a:t>Scalable EBS storage up to 16TiB</a:t>
              </a:r>
            </a:p>
          </p:txBody>
        </p:sp>
        <p:sp>
          <p:nvSpPr>
            <p:cNvPr id="45" name="Text Placeholder 7">
              <a:extLst>
                <a:ext uri="{FF2B5EF4-FFF2-40B4-BE49-F238E27FC236}">
                  <a16:creationId xmlns:a16="http://schemas.microsoft.com/office/drawing/2014/main" id="{0E78B420-86E4-B248-8363-CDEB129D0922}"/>
                </a:ext>
              </a:extLst>
            </p:cNvPr>
            <p:cNvSpPr txBox="1">
              <a:spLocks/>
            </p:cNvSpPr>
            <p:nvPr/>
          </p:nvSpPr>
          <p:spPr>
            <a:xfrm>
              <a:off x="6122861" y="2526135"/>
              <a:ext cx="2587251" cy="34094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/>
                <a:buNone/>
                <a:defRPr sz="2400" kern="120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1pPr>
              <a:lvl2pPr marL="342900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2000" kern="1200" dirty="0" smtClean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2pPr>
              <a:lvl3pPr marL="638175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1800" kern="1200" dirty="0" smtClean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3pPr>
              <a:lvl4pPr marL="922338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1800" kern="1200" dirty="0" smtClean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4pPr>
              <a:lvl5pPr marL="1189038" indent="-342900" algn="l" defTabSz="914400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Arial"/>
                <a:buChar char="•"/>
                <a:defRPr lang="en-US" sz="1800" kern="1200" dirty="0">
                  <a:solidFill>
                    <a:srgbClr val="58585A"/>
                  </a:solidFill>
                  <a:latin typeface="+mn-lt"/>
                  <a:ea typeface="+mn-ea"/>
                  <a:cs typeface="Segoe UI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920" b="1" dirty="0">
                  <a:solidFill>
                    <a:schemeClr val="tx1"/>
                  </a:solidFill>
                </a:rPr>
                <a:t>Scale Down to </a:t>
              </a:r>
            </a:p>
            <a:p>
              <a:pPr algn="ctr"/>
              <a:r>
                <a:rPr lang="en-US" sz="1920" b="1" dirty="0">
                  <a:solidFill>
                    <a:schemeClr val="tx1"/>
                  </a:solidFill>
                </a:rPr>
                <a:t>Control Costs</a:t>
              </a:r>
            </a:p>
            <a:p>
              <a:pPr algn="ctr"/>
              <a:r>
                <a:rPr lang="en-US" sz="1920" dirty="0">
                  <a:solidFill>
                    <a:schemeClr val="tx1"/>
                  </a:solidFill>
                </a:rPr>
                <a:t>As little as 4 vCPU and </a:t>
              </a:r>
            </a:p>
            <a:p>
              <a:pPr algn="ctr"/>
              <a:r>
                <a:rPr lang="en-US" sz="1920" dirty="0">
                  <a:solidFill>
                    <a:schemeClr val="tx1"/>
                  </a:solidFill>
                </a:rPr>
                <a:t>16 </a:t>
              </a:r>
              <a:r>
                <a:rPr lang="en-US" sz="1920" dirty="0" err="1">
                  <a:solidFill>
                    <a:schemeClr val="tx1"/>
                  </a:solidFill>
                </a:rPr>
                <a:t>GiB</a:t>
              </a:r>
              <a:r>
                <a:rPr lang="en-US" sz="1920" dirty="0">
                  <a:solidFill>
                    <a:schemeClr val="tx1"/>
                  </a:solidFill>
                </a:rPr>
                <a:t> of 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5871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E2BD27-1A73-3E45-AD33-1D93182A531A}"/>
              </a:ext>
            </a:extLst>
          </p:cNvPr>
          <p:cNvSpPr/>
          <p:nvPr/>
        </p:nvSpPr>
        <p:spPr>
          <a:xfrm>
            <a:off x="6390702" y="1622612"/>
            <a:ext cx="8111266" cy="5389582"/>
          </a:xfrm>
          <a:prstGeom prst="roundRect">
            <a:avLst>
              <a:gd name="adj" fmla="val 18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08" dirty="0">
              <a:solidFill>
                <a:schemeClr val="bg1"/>
              </a:solidFill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90BD202-6FF4-644B-9CA4-58B3FB784CC4}"/>
              </a:ext>
            </a:extLst>
          </p:cNvPr>
          <p:cNvSpPr/>
          <p:nvPr/>
        </p:nvSpPr>
        <p:spPr>
          <a:xfrm>
            <a:off x="8272499" y="4163089"/>
            <a:ext cx="785707" cy="317461"/>
          </a:xfrm>
          <a:prstGeom prst="round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608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BF62A-EEE4-3440-8B3C-5F7109B92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63" y="427476"/>
            <a:ext cx="13663274" cy="873186"/>
          </a:xfrm>
        </p:spPr>
        <p:txBody>
          <a:bodyPr vert="horz" lIns="182880" tIns="146304" rIns="182880" bIns="146304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Automated backups, Snapshots and Native Backups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69DC8-5A8A-7A45-98BD-172BC541B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641" y="3866298"/>
            <a:ext cx="869992" cy="902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65708B-EEF0-A545-85AF-B3A2FCAA5B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60" y="2519794"/>
            <a:ext cx="819803" cy="88052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636ADC-22D6-7941-B2EF-E4CC45F1BA08}"/>
              </a:ext>
            </a:extLst>
          </p:cNvPr>
          <p:cNvCxnSpPr>
            <a:cxnSpLocks/>
          </p:cNvCxnSpPr>
          <p:nvPr/>
        </p:nvCxnSpPr>
        <p:spPr>
          <a:xfrm>
            <a:off x="7771261" y="2827067"/>
            <a:ext cx="5000378" cy="12618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5B9DB6D-F736-DC48-B3E7-4E264D832BF5}"/>
              </a:ext>
            </a:extLst>
          </p:cNvPr>
          <p:cNvSpPr txBox="1">
            <a:spLocks/>
          </p:cNvSpPr>
          <p:nvPr/>
        </p:nvSpPr>
        <p:spPr>
          <a:xfrm>
            <a:off x="561603" y="1661190"/>
            <a:ext cx="5303538" cy="196977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ct val="20000"/>
              </a:spcBef>
              <a:buFontTx/>
              <a:buNone/>
              <a:defRPr b="0" i="0" spc="-20">
                <a:gradFill>
                  <a:gsLst>
                    <a:gs pos="61236">
                      <a:schemeClr val="accent1"/>
                    </a:gs>
                    <a:gs pos="47191">
                      <a:schemeClr val="accent1"/>
                    </a:gs>
                  </a:gsLst>
                  <a:lin ang="5400000" scaled="1"/>
                </a:gra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•"/>
              <a:defRPr sz="2000" b="0" i="0">
                <a:solidFill>
                  <a:srgbClr val="414042"/>
                </a:solidFill>
                <a:latin typeface="Amazon Ember Regular" charset="0"/>
                <a:cs typeface="Amazon Ember Regular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b="0" i="0">
                <a:solidFill>
                  <a:srgbClr val="414042"/>
                </a:solidFill>
                <a:latin typeface="Amazon Ember Regular" charset="0"/>
                <a:cs typeface="Amazon Ember Regular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1600" b="0" i="0">
                <a:solidFill>
                  <a:srgbClr val="414042"/>
                </a:solidFill>
                <a:latin typeface="Amazon Ember Regular" charset="0"/>
                <a:cs typeface="Amazon Ember Regular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1600" b="0" i="0">
                <a:solidFill>
                  <a:srgbClr val="414042"/>
                </a:solidFill>
                <a:latin typeface="Amazon Ember Regular" charset="0"/>
                <a:cs typeface="Amazon Ember Regular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Backup and restore directly to and from S3 bucket</a:t>
            </a:r>
          </a:p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Supports Compression</a:t>
            </a:r>
          </a:p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Only full &amp; diff backups (no t-log)</a:t>
            </a:r>
          </a:p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Full, diff &amp; t-log restores</a:t>
            </a:r>
          </a:p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Multi-file backup/restore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1BE2F9-42D1-204C-B181-D71C9F0C0997}"/>
              </a:ext>
            </a:extLst>
          </p:cNvPr>
          <p:cNvSpPr txBox="1"/>
          <p:nvPr/>
        </p:nvSpPr>
        <p:spPr>
          <a:xfrm>
            <a:off x="6579983" y="3500102"/>
            <a:ext cx="1749551" cy="3500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Amazon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RDS SQL Server</a:t>
            </a:r>
            <a:endParaRPr lang="en-US" sz="4608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8D2F3B-716E-C74D-94FC-834594FA9675}"/>
              </a:ext>
            </a:extLst>
          </p:cNvPr>
          <p:cNvSpPr txBox="1"/>
          <p:nvPr/>
        </p:nvSpPr>
        <p:spPr>
          <a:xfrm>
            <a:off x="12490007" y="4858258"/>
            <a:ext cx="1431603" cy="2490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Amazon</a:t>
            </a:r>
            <a:br>
              <a:rPr lang="en-US" sz="1600" b="1" dirty="0"/>
            </a:br>
            <a:r>
              <a:rPr lang="en-US" sz="1600" b="1" dirty="0"/>
              <a:t>S3</a:t>
            </a:r>
            <a:endParaRPr lang="en-US" sz="4608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61A5C29-B2F3-D24A-B97E-F9E4B8E72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890" y="2981771"/>
            <a:ext cx="537122" cy="101770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B2BC188-1AD9-3C40-9C90-F2804D95A00D}"/>
              </a:ext>
            </a:extLst>
          </p:cNvPr>
          <p:cNvSpPr txBox="1"/>
          <p:nvPr/>
        </p:nvSpPr>
        <p:spPr>
          <a:xfrm>
            <a:off x="9759387" y="4097586"/>
            <a:ext cx="1024128" cy="2487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600" b="1" dirty="0"/>
              <a:t>IAM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E2FAEFA-E90E-3D43-8953-AF2A4DE4BE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7403" y="4954606"/>
            <a:ext cx="887914" cy="117043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79146C1-3BD0-F54F-8451-A00650EAC983}"/>
              </a:ext>
            </a:extLst>
          </p:cNvPr>
          <p:cNvSpPr txBox="1"/>
          <p:nvPr/>
        </p:nvSpPr>
        <p:spPr>
          <a:xfrm>
            <a:off x="6677651" y="6215296"/>
            <a:ext cx="1431603" cy="2490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SQL Server</a:t>
            </a:r>
            <a:endParaRPr lang="en-US" sz="4608" b="1" dirty="0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1FCC03-EAFB-F147-A970-7139D14E5A11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7805317" y="4471719"/>
            <a:ext cx="4966323" cy="10681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E9A5C25-A9AE-2340-ACBE-DCEF1D44F283}"/>
              </a:ext>
            </a:extLst>
          </p:cNvPr>
          <p:cNvSpPr txBox="1"/>
          <p:nvPr/>
        </p:nvSpPr>
        <p:spPr>
          <a:xfrm>
            <a:off x="8131509" y="4193045"/>
            <a:ext cx="1024128" cy="2487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*.</a:t>
            </a:r>
            <a:r>
              <a:rPr lang="en-US" sz="1600" b="1" dirty="0" err="1">
                <a:solidFill>
                  <a:schemeClr val="bg1"/>
                </a:solidFill>
              </a:rPr>
              <a:t>bak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4CB0D4F-E73C-3B46-B358-8BA3BEB24371}"/>
              </a:ext>
            </a:extLst>
          </p:cNvPr>
          <p:cNvCxnSpPr/>
          <p:nvPr/>
        </p:nvCxnSpPr>
        <p:spPr>
          <a:xfrm flipV="1">
            <a:off x="8665350" y="3400323"/>
            <a:ext cx="0" cy="65295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09D3F52-FC76-9D40-B1A6-6095CEB7A645}"/>
              </a:ext>
            </a:extLst>
          </p:cNvPr>
          <p:cNvCxnSpPr/>
          <p:nvPr/>
        </p:nvCxnSpPr>
        <p:spPr>
          <a:xfrm flipV="1">
            <a:off x="8669866" y="4564915"/>
            <a:ext cx="0" cy="65295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402" y="4262970"/>
            <a:ext cx="5513941" cy="274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6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1.11111E-6 L 0.04757 -1.11111E-6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786" y="415801"/>
            <a:ext cx="13982827" cy="1079598"/>
          </a:xfrm>
        </p:spPr>
        <p:txBody>
          <a:bodyPr vert="horz" lIns="182880" tIns="146304" rIns="182880" bIns="146304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Amazon RDS Multi-AZ SQL Server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6237715" y="1786288"/>
            <a:ext cx="8068962" cy="5104760"/>
            <a:chOff x="914400" y="2123943"/>
            <a:chExt cx="4911629" cy="5104760"/>
          </a:xfrm>
        </p:grpSpPr>
        <p:grpSp>
          <p:nvGrpSpPr>
            <p:cNvPr id="40" name="Group 39"/>
            <p:cNvGrpSpPr/>
            <p:nvPr/>
          </p:nvGrpSpPr>
          <p:grpSpPr>
            <a:xfrm>
              <a:off x="914400" y="2123943"/>
              <a:ext cx="4911629" cy="5104760"/>
              <a:chOff x="665222" y="762458"/>
              <a:chExt cx="3009155" cy="3685134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D4F0FC7-668E-E64B-A231-B1E7896F3CB6}"/>
                  </a:ext>
                </a:extLst>
              </p:cNvPr>
              <p:cNvSpPr/>
              <p:nvPr/>
            </p:nvSpPr>
            <p:spPr>
              <a:xfrm>
                <a:off x="665222" y="762458"/>
                <a:ext cx="3009155" cy="3685134"/>
              </a:xfrm>
              <a:prstGeom prst="rect">
                <a:avLst/>
              </a:prstGeom>
              <a:noFill/>
              <a:ln w="12700" cap="flat" cmpd="sng" algn="ctr">
                <a:solidFill>
                  <a:srgbClr val="00A0C8"/>
                </a:solidFill>
                <a:prstDash val="sysDash"/>
                <a:miter lim="800000"/>
              </a:ln>
              <a:effectLst/>
            </p:spPr>
            <p:txBody>
  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Region A</a:t>
                </a:r>
              </a:p>
            </p:txBody>
          </p:sp>
          <p:pic>
            <p:nvPicPr>
              <p:cNvPr id="54" name="Graphic 69">
                <a:extLst>
                  <a:ext uri="{FF2B5EF4-FFF2-40B4-BE49-F238E27FC236}">
                    <a16:creationId xmlns:a16="http://schemas.microsoft.com/office/drawing/2014/main" id="{E96F59D7-EAC0-1648-9591-9099DF906D31}"/>
                  </a:ext>
                </a:extLst>
              </p:cNvPr>
              <p:cNvPicPr preferRelativeResize="0"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5224" y="762461"/>
                <a:ext cx="124326" cy="240665"/>
              </a:xfrm>
              <a:prstGeom prst="rect">
                <a:avLst/>
              </a:prstGeom>
            </p:spPr>
          </p:pic>
        </p:grpSp>
        <p:grpSp>
          <p:nvGrpSpPr>
            <p:cNvPr id="41" name="Group 40"/>
            <p:cNvGrpSpPr/>
            <p:nvPr/>
          </p:nvGrpSpPr>
          <p:grpSpPr>
            <a:xfrm>
              <a:off x="1071564" y="2544344"/>
              <a:ext cx="4590715" cy="4480559"/>
              <a:chOff x="2582993" y="762458"/>
              <a:chExt cx="1753701" cy="1187225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2A0ABFB-D447-D349-9C47-3EE861DD0794}"/>
                  </a:ext>
                </a:extLst>
              </p:cNvPr>
              <p:cNvSpPr/>
              <p:nvPr/>
            </p:nvSpPr>
            <p:spPr>
              <a:xfrm>
                <a:off x="2582993" y="762458"/>
                <a:ext cx="1753701" cy="1187225"/>
              </a:xfrm>
              <a:prstGeom prst="rect">
                <a:avLst/>
              </a:prstGeom>
              <a:noFill/>
              <a:ln w="12700" cap="flat" cmpd="sng" algn="ctr">
                <a:solidFill>
                  <a:srgbClr val="69AE35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 w="0"/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VPC</a:t>
                </a:r>
              </a:p>
            </p:txBody>
          </p:sp>
          <p:pic>
            <p:nvPicPr>
              <p:cNvPr id="52" name="Graphic 77">
                <a:extLst>
                  <a:ext uri="{FF2B5EF4-FFF2-40B4-BE49-F238E27FC236}">
                    <a16:creationId xmlns:a16="http://schemas.microsoft.com/office/drawing/2014/main" id="{2316BE92-0E78-E045-83F8-47F8C3146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582993" y="762458"/>
                <a:ext cx="77521" cy="88336"/>
              </a:xfrm>
              <a:prstGeom prst="rect">
                <a:avLst/>
              </a:prstGeom>
            </p:spPr>
          </p:pic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05B98DC-5AF5-3342-A4B1-F62852BC80FE}"/>
                </a:ext>
              </a:extLst>
            </p:cNvPr>
            <p:cNvSpPr/>
            <p:nvPr/>
          </p:nvSpPr>
          <p:spPr>
            <a:xfrm>
              <a:off x="1196175" y="2965799"/>
              <a:ext cx="2031594" cy="3931920"/>
            </a:xfrm>
            <a:prstGeom prst="rect">
              <a:avLst/>
            </a:prstGeom>
            <a:noFill/>
            <a:ln w="12700" cap="flat" cmpd="sng" algn="ctr">
              <a:solidFill>
                <a:srgbClr val="00A0C8"/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Availability Zone 1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05B98DC-5AF5-3342-A4B1-F62852BC80FE}"/>
                </a:ext>
              </a:extLst>
            </p:cNvPr>
            <p:cNvSpPr/>
            <p:nvPr/>
          </p:nvSpPr>
          <p:spPr>
            <a:xfrm>
              <a:off x="3508440" y="2965799"/>
              <a:ext cx="2031594" cy="3931920"/>
            </a:xfrm>
            <a:prstGeom prst="rect">
              <a:avLst/>
            </a:prstGeom>
            <a:noFill/>
            <a:ln w="12700" cap="flat" cmpd="sng" algn="ctr">
              <a:solidFill>
                <a:srgbClr val="00A0C8"/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Availability Zone 2</a:t>
              </a: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1276787" y="3355275"/>
              <a:ext cx="1862875" cy="3291840"/>
              <a:chOff x="6279560" y="694364"/>
              <a:chExt cx="1712563" cy="11430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5079DED-31B9-5744-83EC-838A158DC6AC}"/>
                  </a:ext>
                </a:extLst>
              </p:cNvPr>
              <p:cNvSpPr/>
              <p:nvPr/>
            </p:nvSpPr>
            <p:spPr>
              <a:xfrm>
                <a:off x="6303545" y="694364"/>
                <a:ext cx="1688578" cy="1143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15000"/>
                </a:schemeClr>
              </a:solidFill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91440"/>
                <a:r>
                  <a:rPr lang="en-US" sz="1400" dirty="0">
                    <a:solidFill>
                      <a:schemeClr val="tx1"/>
                    </a:solidFill>
                  </a:rPr>
                  <a:t>Private subnet</a:t>
                </a:r>
              </a:p>
            </p:txBody>
          </p:sp>
          <p:pic>
            <p:nvPicPr>
              <p:cNvPr id="50" name="Graphic 3">
                <a:extLst>
                  <a:ext uri="{FF2B5EF4-FFF2-40B4-BE49-F238E27FC236}">
                    <a16:creationId xmlns:a16="http://schemas.microsoft.com/office/drawing/2014/main" id="{93BD486F-D648-A449-8D44-8B138CA19A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279560" y="694364"/>
                <a:ext cx="186555" cy="115756"/>
              </a:xfrm>
              <a:prstGeom prst="rect">
                <a:avLst/>
              </a:prstGeom>
            </p:spPr>
          </p:pic>
        </p:grpSp>
        <p:grpSp>
          <p:nvGrpSpPr>
            <p:cNvPr id="45" name="Group 44"/>
            <p:cNvGrpSpPr/>
            <p:nvPr/>
          </p:nvGrpSpPr>
          <p:grpSpPr>
            <a:xfrm>
              <a:off x="3534783" y="3355275"/>
              <a:ext cx="1915679" cy="3291840"/>
              <a:chOff x="6279560" y="694364"/>
              <a:chExt cx="1761108" cy="11430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079DED-31B9-5744-83EC-838A158DC6AC}"/>
                  </a:ext>
                </a:extLst>
              </p:cNvPr>
              <p:cNvSpPr/>
              <p:nvPr/>
            </p:nvSpPr>
            <p:spPr>
              <a:xfrm>
                <a:off x="6352089" y="694364"/>
                <a:ext cx="1688579" cy="1143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15000"/>
                </a:schemeClr>
              </a:solidFill>
              <a:ln w="12700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91440" algn="l"/>
                <a:r>
                  <a:rPr lang="en-US" sz="1400" dirty="0">
                    <a:solidFill>
                      <a:schemeClr val="tx1"/>
                    </a:solidFill>
                  </a:rPr>
                  <a:t>Private subnet</a:t>
                </a:r>
              </a:p>
            </p:txBody>
          </p:sp>
          <p:pic>
            <p:nvPicPr>
              <p:cNvPr id="48" name="Graphic 3">
                <a:extLst>
                  <a:ext uri="{FF2B5EF4-FFF2-40B4-BE49-F238E27FC236}">
                    <a16:creationId xmlns:a16="http://schemas.microsoft.com/office/drawing/2014/main" id="{93BD486F-D648-A449-8D44-8B138CA19A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279560" y="694364"/>
                <a:ext cx="186555" cy="115756"/>
              </a:xfrm>
              <a:prstGeom prst="rect">
                <a:avLst/>
              </a:prstGeom>
            </p:spPr>
          </p:pic>
        </p:grpSp>
        <p:sp>
          <p:nvSpPr>
            <p:cNvPr id="46" name="Left-Right Arrow 45"/>
            <p:cNvSpPr/>
            <p:nvPr/>
          </p:nvSpPr>
          <p:spPr>
            <a:xfrm>
              <a:off x="2537435" y="4037210"/>
              <a:ext cx="1669803" cy="1278225"/>
            </a:xfrm>
            <a:prstGeom prst="leftRightArrow">
              <a:avLst/>
            </a:prstGeom>
            <a:solidFill>
              <a:srgbClr val="F585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mazon Ember"/>
                </a:rPr>
                <a:t>Synchronous commit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mazon Ember"/>
                </a:rPr>
                <a:t>Automatic failover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807767" y="3870573"/>
            <a:ext cx="1073702" cy="1031120"/>
            <a:chOff x="3031771" y="2089829"/>
            <a:chExt cx="671064" cy="644450"/>
          </a:xfrm>
        </p:grpSpPr>
        <p:pic>
          <p:nvPicPr>
            <p:cNvPr id="32" name="Graphic 95">
              <a:extLst>
                <a:ext uri="{FF2B5EF4-FFF2-40B4-BE49-F238E27FC236}">
                  <a16:creationId xmlns:a16="http://schemas.microsoft.com/office/drawing/2014/main" id="{84753298-8732-9142-8A1E-BD05F5692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32353" y="2089829"/>
              <a:ext cx="469900" cy="46990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3031771" y="2617555"/>
              <a:ext cx="671064" cy="1167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548640">
                <a:defRPr/>
              </a:pPr>
              <a:r>
                <a:rPr lang="en-US" sz="1200" b="1" kern="0" dirty="0"/>
                <a:t>Amazon</a:t>
              </a:r>
              <a:br>
                <a:rPr lang="en-US" sz="1200" b="1" kern="0" dirty="0"/>
              </a:br>
              <a:r>
                <a:rPr lang="en-US" sz="1200" b="1" kern="0" dirty="0"/>
                <a:t>RDS</a:t>
              </a:r>
            </a:p>
            <a:p>
              <a:pPr algn="ctr" defTabSz="548640">
                <a:defRPr/>
              </a:pPr>
              <a:r>
                <a:rPr lang="en-US" sz="1200" b="1" kern="0" dirty="0"/>
                <a:t>primary</a:t>
              </a:r>
              <a:endParaRPr lang="en-US" sz="2160" b="1" kern="0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1760685" y="3870574"/>
            <a:ext cx="1073702" cy="956072"/>
            <a:chOff x="5502345" y="2194560"/>
            <a:chExt cx="671064" cy="597545"/>
          </a:xfrm>
        </p:grpSpPr>
        <p:pic>
          <p:nvPicPr>
            <p:cNvPr id="35" name="Graphic 95">
              <a:extLst>
                <a:ext uri="{FF2B5EF4-FFF2-40B4-BE49-F238E27FC236}">
                  <a16:creationId xmlns:a16="http://schemas.microsoft.com/office/drawing/2014/main" id="{84753298-8732-9142-8A1E-BD05F5692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02927" y="2194560"/>
              <a:ext cx="469900" cy="46990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502345" y="2675381"/>
              <a:ext cx="671064" cy="1167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algn="ctr" defTabSz="548640">
                <a:defRPr/>
              </a:pPr>
              <a:r>
                <a:rPr lang="en-US" sz="1200" b="1" kern="0" dirty="0"/>
                <a:t>Amazon</a:t>
              </a:r>
              <a:br>
                <a:rPr lang="en-US" sz="1200" b="1" kern="0" dirty="0"/>
              </a:br>
              <a:r>
                <a:rPr lang="en-US" sz="1200" b="1" kern="0" dirty="0"/>
                <a:t>RDS</a:t>
              </a:r>
            </a:p>
            <a:p>
              <a:pPr algn="ctr" defTabSz="548640">
                <a:defRPr/>
              </a:pPr>
              <a:r>
                <a:rPr lang="en-US" sz="1200" b="1" kern="0" dirty="0"/>
                <a:t>secondary</a:t>
              </a:r>
              <a:endParaRPr lang="en-US" sz="2160" b="1" kern="0" dirty="0"/>
            </a:p>
          </p:txBody>
        </p:sp>
      </p:grpSp>
      <p:sp>
        <p:nvSpPr>
          <p:cNvPr id="25" name="Content Placeholder 2"/>
          <p:cNvSpPr txBox="1">
            <a:spLocks/>
          </p:cNvSpPr>
          <p:nvPr/>
        </p:nvSpPr>
        <p:spPr>
          <a:xfrm>
            <a:off x="312556" y="1952980"/>
            <a:ext cx="5636961" cy="4571033"/>
          </a:xfrm>
          <a:prstGeom prst="rect">
            <a:avLst/>
          </a:prstGeom>
        </p:spPr>
        <p:txBody>
          <a:bodyPr/>
          <a:lstStyle>
            <a:lvl1pPr marL="0" indent="0" algn="l" defTabSz="457189" rtl="0" eaLnBrk="1" latinLnBrk="0" hangingPunct="1">
              <a:spcBef>
                <a:spcPct val="20000"/>
              </a:spcBef>
              <a:buFontTx/>
              <a:buNone/>
              <a:defRPr sz="1800" b="0" i="0" kern="1200">
                <a:solidFill>
                  <a:schemeClr val="bg1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742931" indent="-285743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142972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1600" b="0" i="0" kern="1200">
                <a:solidFill>
                  <a:schemeClr val="bg1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1600160" indent="-228594" algn="l" defTabSz="457189" rtl="0" eaLnBrk="1" latinLnBrk="0" hangingPunct="1">
              <a:spcBef>
                <a:spcPct val="20000"/>
              </a:spcBef>
              <a:buFont typeface="Arial"/>
              <a:buChar char="–"/>
              <a:defRPr sz="1400" b="0" i="0" kern="1200">
                <a:solidFill>
                  <a:schemeClr val="bg1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2057348" indent="-228594" algn="l" defTabSz="457189" rtl="0" eaLnBrk="1" latinLnBrk="0" hangingPunct="1">
              <a:spcBef>
                <a:spcPct val="20000"/>
              </a:spcBef>
              <a:buFont typeface="Arial"/>
              <a:buChar char="»"/>
              <a:defRPr sz="1200" b="0" i="0" kern="1200">
                <a:solidFill>
                  <a:schemeClr val="bg1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5440" lvl="1" indent="-345440">
              <a:lnSpc>
                <a:spcPct val="15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Always On AG (Basic AG for Standard) for 2016, 2017 &amp; 2019</a:t>
            </a:r>
          </a:p>
          <a:p>
            <a:pPr marL="345440" lvl="1" indent="-345440">
              <a:lnSpc>
                <a:spcPct val="15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DB Mirroring for 2012 and 2014</a:t>
            </a:r>
          </a:p>
          <a:p>
            <a:pPr marL="345440" lvl="1" indent="-345440">
              <a:lnSpc>
                <a:spcPct val="15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Synchronous Secondary hot stand-by</a:t>
            </a:r>
          </a:p>
          <a:p>
            <a:pPr marL="345440" lvl="1" indent="-345440">
              <a:lnSpc>
                <a:spcPct val="15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Automatic &amp; Manual Failover</a:t>
            </a:r>
          </a:p>
          <a:p>
            <a:pPr marL="345440" lvl="1" indent="-345440">
              <a:lnSpc>
                <a:spcPct val="15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No read traffic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33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E3BF62A-EEE4-3440-8B3C-5F7109B92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63" y="483197"/>
            <a:ext cx="12890698" cy="873186"/>
          </a:xfrm>
        </p:spPr>
        <p:txBody>
          <a:bodyPr vert="horz" lIns="182880" tIns="146304" rIns="182880" bIns="146304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Read scale-out with Amazon 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863" y="1671829"/>
            <a:ext cx="4160459" cy="2188293"/>
          </a:xfrm>
        </p:spPr>
        <p:txBody>
          <a:bodyPr/>
          <a:lstStyle/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2016+ Enterprise Edition feature</a:t>
            </a:r>
          </a:p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Up to 5 asynchronous read replicas</a:t>
            </a:r>
          </a:p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In-region</a:t>
            </a:r>
          </a:p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Promotion</a:t>
            </a:r>
          </a:p>
          <a:p>
            <a:pPr marL="345440" lvl="1" indent="-345440">
              <a:lnSpc>
                <a:spcPct val="90000"/>
              </a:lnSpc>
              <a:spcBef>
                <a:spcPts val="320"/>
              </a:spcBef>
              <a:spcAft>
                <a:spcPts val="32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en-US" sz="2000" spc="-32" dirty="0">
                <a:solidFill>
                  <a:schemeClr val="tx1"/>
                </a:solidFill>
                <a:latin typeface="Amazon Ember" charset="0"/>
                <a:ea typeface="Amazon Ember" charset="0"/>
                <a:cs typeface="Amazon Ember" charset="0"/>
              </a:rPr>
              <a:t>Separate end-point</a:t>
            </a: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781" y="2951171"/>
            <a:ext cx="9593948" cy="383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6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BE8B-C697-3C46-8A5C-170A45C3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844" y="638288"/>
            <a:ext cx="13167360" cy="731521"/>
          </a:xfrm>
        </p:spPr>
        <p:txBody>
          <a:bodyPr/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Amazon RDS Enhanced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3F22-425F-6B4E-90C6-AB63BDF72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44" y="1741015"/>
            <a:ext cx="6762356" cy="5029200"/>
          </a:xfrm>
        </p:spPr>
        <p:txBody>
          <a:bodyPr/>
          <a:lstStyle/>
          <a:p>
            <a:pPr>
              <a:buClr>
                <a:schemeClr val="accent1"/>
              </a:buClr>
            </a:pPr>
            <a:r>
              <a:rPr lang="en-US" sz="2400" b="1" dirty="0">
                <a:solidFill>
                  <a:schemeClr val="tx1"/>
                </a:solidFill>
              </a:rPr>
              <a:t>Overview:</a:t>
            </a:r>
          </a:p>
          <a:p>
            <a:pPr marL="548640" indent="-548640">
              <a:buClr>
                <a:schemeClr val="accent1"/>
              </a:buClr>
              <a:buFont typeface="Arial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OS Level Monitoring Metrics – 26 system and per process metrics</a:t>
            </a:r>
          </a:p>
          <a:p>
            <a:pPr marL="548640" indent="-548640">
              <a:buClr>
                <a:schemeClr val="accent1"/>
              </a:buClr>
              <a:buFont typeface="Arial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Metrics delivered to </a:t>
            </a:r>
            <a:r>
              <a:rPr lang="en-US" sz="2000" dirty="0" err="1">
                <a:solidFill>
                  <a:schemeClr val="tx1"/>
                </a:solidFill>
              </a:rPr>
              <a:t>CloudWatch</a:t>
            </a:r>
            <a:r>
              <a:rPr lang="en-US" sz="2000" dirty="0">
                <a:solidFill>
                  <a:schemeClr val="tx1"/>
                </a:solidFill>
              </a:rPr>
              <a:t> Logs</a:t>
            </a:r>
          </a:p>
          <a:p>
            <a:pPr marL="548640" indent="-548640">
              <a:buClr>
                <a:schemeClr val="accent1"/>
              </a:buClr>
              <a:buFont typeface="Arial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Up to 1 second granularity</a:t>
            </a:r>
          </a:p>
          <a:p>
            <a:pPr>
              <a:buClr>
                <a:schemeClr val="accent1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</a:pPr>
            <a:r>
              <a:rPr lang="en-US" sz="2400" b="1" dirty="0">
                <a:solidFill>
                  <a:schemeClr val="tx1"/>
                </a:solidFill>
              </a:rPr>
              <a:t>Compared to </a:t>
            </a:r>
            <a:r>
              <a:rPr lang="en-US" sz="2400" b="1" dirty="0" err="1">
                <a:solidFill>
                  <a:schemeClr val="tx1"/>
                </a:solidFill>
              </a:rPr>
              <a:t>CloudWatch</a:t>
            </a:r>
            <a:r>
              <a:rPr lang="en-US" sz="2400" b="1" dirty="0">
                <a:solidFill>
                  <a:schemeClr val="tx1"/>
                </a:solidFill>
              </a:rPr>
              <a:t> Metrics:</a:t>
            </a:r>
          </a:p>
          <a:p>
            <a:pPr marL="457200" indent="-457200">
              <a:buClr>
                <a:schemeClr val="accent1"/>
              </a:buClr>
              <a:buFont typeface="Arial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Agent based metrics collections</a:t>
            </a:r>
          </a:p>
          <a:p>
            <a:pPr marL="457200" indent="-457200">
              <a:buClr>
                <a:schemeClr val="accent1"/>
              </a:buClr>
              <a:buFont typeface="Arial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There can be differences with </a:t>
            </a:r>
            <a:r>
              <a:rPr lang="en-US" sz="2000" dirty="0" err="1">
                <a:solidFill>
                  <a:schemeClr val="tx1"/>
                </a:solidFill>
              </a:rPr>
              <a:t>CloudWatch</a:t>
            </a:r>
            <a:r>
              <a:rPr lang="en-US" sz="2000" dirty="0">
                <a:solidFill>
                  <a:schemeClr val="tx1"/>
                </a:solidFill>
              </a:rPr>
              <a:t> metrics due to collection source (hypervisor vs. agent) – </a:t>
            </a:r>
            <a:r>
              <a:rPr lang="en-US" sz="2000" dirty="0" err="1">
                <a:solidFill>
                  <a:schemeClr val="tx1"/>
                </a:solidFill>
              </a:rPr>
              <a:t>eg</a:t>
            </a:r>
            <a:r>
              <a:rPr lang="en-US" sz="2000" dirty="0">
                <a:solidFill>
                  <a:schemeClr val="tx1"/>
                </a:solidFill>
              </a:rPr>
              <a:t>. CPU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203" y="2433954"/>
            <a:ext cx="6938353" cy="299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69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5152" y="1368312"/>
            <a:ext cx="11482541" cy="585851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20EBE8B-C697-3C46-8A5C-170A45C3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394" y="495126"/>
            <a:ext cx="13128486" cy="873186"/>
          </a:xfrm>
        </p:spPr>
        <p:txBody>
          <a:bodyPr/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Performance Insights for RDS SQL Server</a:t>
            </a:r>
          </a:p>
        </p:txBody>
      </p:sp>
    </p:spTree>
    <p:extLst>
      <p:ext uri="{BB962C8B-B14F-4D97-AF65-F5344CB8AC3E}">
        <p14:creationId xmlns:p14="http://schemas.microsoft.com/office/powerpoint/2010/main" val="2843430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Server on Amazon EC2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010842" y="784064"/>
            <a:ext cx="1480069" cy="1430374"/>
            <a:chOff x="7607808" y="2575096"/>
            <a:chExt cx="1480069" cy="1430374"/>
          </a:xfrm>
        </p:grpSpPr>
        <p:pic>
          <p:nvPicPr>
            <p:cNvPr id="4" name="Graphic 28">
              <a:extLst>
                <a:ext uri="{FF2B5EF4-FFF2-40B4-BE49-F238E27FC236}">
                  <a16:creationId xmlns:a16="http://schemas.microsoft.com/office/drawing/2014/main" id="{4AA4122F-7D35-0C4A-83B3-B57D16D1F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07808" y="2575096"/>
              <a:ext cx="1430374" cy="143037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751907" y="2740589"/>
              <a:ext cx="13359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9900"/>
                  </a:solidFill>
                  <a:latin typeface="Amazon Ember Cd RC" panose="020B0606020204020204" pitchFamily="34" charset="0"/>
                  <a:ea typeface="Amazon Ember Cd RC" panose="020B0606020204020204" pitchFamily="34" charset="0"/>
                  <a:cs typeface="Amazon Ember Cd RC" panose="020B0606020204020204" pitchFamily="34" charset="0"/>
                </a:rPr>
                <a:t>SQL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093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17446"/>
            <a:ext cx="13167360" cy="731521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SQL Server on Amazon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855" y="1757334"/>
            <a:ext cx="13863954" cy="5686282"/>
          </a:xfrm>
        </p:spPr>
        <p:txBody>
          <a:bodyPr vert="horz" lIns="146304" tIns="73152" rIns="146304" bIns="73152" rtlCol="0">
            <a:noAutofit/>
          </a:bodyPr>
          <a:lstStyle/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How to start</a:t>
            </a:r>
          </a:p>
          <a:p>
            <a:pPr lvl="1">
              <a:buClr>
                <a:schemeClr val="accent1"/>
              </a:buClr>
            </a:pPr>
            <a:r>
              <a:rPr lang="en-US" sz="2400" dirty="0">
                <a:solidFill>
                  <a:schemeClr val="tx1"/>
                </a:solidFill>
              </a:rPr>
              <a:t>Spin up an EC2 instance and install from customer media (BYOL)</a:t>
            </a:r>
          </a:p>
          <a:p>
            <a:pPr lvl="1">
              <a:buClr>
                <a:schemeClr val="accent1"/>
              </a:buClr>
            </a:pPr>
            <a:r>
              <a:rPr lang="en-US" sz="2400" dirty="0">
                <a:solidFill>
                  <a:schemeClr val="tx1"/>
                </a:solidFill>
              </a:rPr>
              <a:t>Spin up an EC2 instance that includes SQL in the Amazon Machine Instance (AMI)</a:t>
            </a:r>
          </a:p>
          <a:p>
            <a:pPr lvl="1">
              <a:buClr>
                <a:schemeClr val="accent1"/>
              </a:buClr>
            </a:pPr>
            <a:endParaRPr lang="en-US" sz="1100" dirty="0">
              <a:solidFill>
                <a:schemeClr val="tx1"/>
              </a:solidFill>
            </a:endParaRP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Self-Managed SQL Server</a:t>
            </a:r>
          </a:p>
          <a:p>
            <a:pPr marL="1920240" lvl="1" indent="-73152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Security, patching &amp; updates</a:t>
            </a:r>
          </a:p>
          <a:p>
            <a:pPr marL="1920240" lvl="1" indent="-73152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Backups</a:t>
            </a:r>
          </a:p>
          <a:p>
            <a:pPr marL="1920240" lvl="1" indent="-73152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High Availability</a:t>
            </a:r>
          </a:p>
          <a:p>
            <a:pPr>
              <a:buClr>
                <a:schemeClr val="accent1"/>
              </a:buClr>
            </a:pPr>
            <a:endParaRPr lang="en-US" sz="1200" dirty="0">
              <a:solidFill>
                <a:schemeClr val="tx1"/>
              </a:solidFill>
            </a:endParaRPr>
          </a:p>
          <a:p>
            <a:pPr marL="457200" indent="-4572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Full SQL Server sysadmin privileges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2365684" y="620491"/>
            <a:ext cx="1480069" cy="1430374"/>
            <a:chOff x="7607808" y="2575096"/>
            <a:chExt cx="1480069" cy="1430374"/>
          </a:xfrm>
        </p:grpSpPr>
        <p:pic>
          <p:nvPicPr>
            <p:cNvPr id="6" name="Graphic 28">
              <a:extLst>
                <a:ext uri="{FF2B5EF4-FFF2-40B4-BE49-F238E27FC236}">
                  <a16:creationId xmlns:a16="http://schemas.microsoft.com/office/drawing/2014/main" id="{4AA4122F-7D35-0C4A-83B3-B57D16D1F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07808" y="2575096"/>
              <a:ext cx="1430374" cy="1430374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751907" y="2740589"/>
              <a:ext cx="13359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9900"/>
                  </a:solidFill>
                  <a:latin typeface="Amazon Ember Cd RC" panose="020B0606020204020204" pitchFamily="34" charset="0"/>
                  <a:ea typeface="Amazon Ember Cd RC" panose="020B0606020204020204" pitchFamily="34" charset="0"/>
                  <a:cs typeface="Amazon Ember Cd RC" panose="020B0606020204020204" pitchFamily="34" charset="0"/>
                </a:rPr>
                <a:t>SQL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2499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3CA4A-E87A-434D-9BEF-102EAE91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Performance for SQL Server on EC2</a:t>
            </a:r>
          </a:p>
        </p:txBody>
      </p:sp>
    </p:spTree>
    <p:extLst>
      <p:ext uri="{BB962C8B-B14F-4D97-AF65-F5344CB8AC3E}">
        <p14:creationId xmlns:p14="http://schemas.microsoft.com/office/powerpoint/2010/main" val="1086082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786" y="440279"/>
            <a:ext cx="13982827" cy="7955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Amazon EC2: Purpose-built computing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15652"/>
              </p:ext>
            </p:extLst>
          </p:nvPr>
        </p:nvGraphicFramePr>
        <p:xfrm>
          <a:off x="546102" y="1516006"/>
          <a:ext cx="13542973" cy="5477728"/>
        </p:xfrm>
        <a:graphic>
          <a:graphicData uri="http://schemas.openxmlformats.org/drawingml/2006/table">
            <a:tbl>
              <a:tblPr firstRow="1" bandRow="1"/>
              <a:tblGrid>
                <a:gridCol w="5529994">
                  <a:extLst>
                    <a:ext uri="{9D8B030D-6E8A-4147-A177-3AD203B41FA5}">
                      <a16:colId xmlns:a16="http://schemas.microsoft.com/office/drawing/2014/main" val="664897743"/>
                    </a:ext>
                  </a:extLst>
                </a:gridCol>
                <a:gridCol w="8012979">
                  <a:extLst>
                    <a:ext uri="{9D8B030D-6E8A-4147-A177-3AD203B41FA5}">
                      <a16:colId xmlns:a16="http://schemas.microsoft.com/office/drawing/2014/main" val="3633585689"/>
                    </a:ext>
                  </a:extLst>
                </a:gridCol>
              </a:tblGrid>
              <a:tr h="6964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Current instance families and generation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Family/usage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808229"/>
                  </a:ext>
                </a:extLst>
              </a:tr>
              <a:tr h="6964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b="1" dirty="0"/>
                        <a:t>M5, M5a, M5zn </a:t>
                      </a:r>
                    </a:p>
                  </a:txBody>
                  <a:tcPr marL="73152" marR="73152" marT="43891" marB="43891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b="1" dirty="0"/>
                        <a:t>General</a:t>
                      </a:r>
                      <a:r>
                        <a:rPr lang="en-US" sz="1900" b="1" baseline="0" dirty="0"/>
                        <a:t> purpose compute</a:t>
                      </a:r>
                      <a:endParaRPr lang="en-US" sz="1900" b="1" dirty="0"/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942374"/>
                  </a:ext>
                </a:extLst>
              </a:tr>
              <a:tr h="49745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T2, T3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Burstable performance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998238"/>
                  </a:ext>
                </a:extLst>
              </a:tr>
              <a:tr h="6964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C5, C5n, C5a,C4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Compute </a:t>
                      </a:r>
                      <a:r>
                        <a:rPr lang="en-US" sz="1900" u="none" dirty="0">
                          <a:solidFill>
                            <a:srgbClr val="000000"/>
                          </a:solidFill>
                        </a:rPr>
                        <a:t>optimized</a:t>
                      </a:r>
                      <a:endParaRPr lang="en-US" sz="1900" u="none" dirty="0">
                        <a:solidFill>
                          <a:srgbClr val="000000"/>
                        </a:solidFill>
                        <a:latin typeface="Amazon Ember" panose="02000000000000000000" pitchFamily="2" charset="0"/>
                      </a:endParaRP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5891"/>
                  </a:ext>
                </a:extLst>
              </a:tr>
              <a:tr h="73149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X1, X1E, R5, R5d, R5a, Z1d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Memory</a:t>
                      </a:r>
                      <a:r>
                        <a:rPr lang="en-US" sz="1900" b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900" b="1" u="none" dirty="0">
                          <a:solidFill>
                            <a:schemeClr val="tx1"/>
                          </a:solidFill>
                        </a:rPr>
                        <a:t>optimized</a:t>
                      </a:r>
                      <a:endParaRPr lang="en-US" sz="1900" b="1" u="none" dirty="0">
                        <a:solidFill>
                          <a:schemeClr val="tx1"/>
                        </a:solidFill>
                        <a:latin typeface="Amazon Ember" panose="02000000000000000000" pitchFamily="2" charset="0"/>
                      </a:endParaRP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17587"/>
                  </a:ext>
                </a:extLst>
              </a:tr>
              <a:tr h="6964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P2, G3, F1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Accelerated </a:t>
                      </a:r>
                      <a:r>
                        <a:rPr lang="en-US" sz="1900" u="none" dirty="0">
                          <a:solidFill>
                            <a:srgbClr val="000000"/>
                          </a:solidFill>
                        </a:rPr>
                        <a:t>computing</a:t>
                      </a:r>
                      <a:endParaRPr lang="en-US" sz="1900" u="none" dirty="0">
                        <a:solidFill>
                          <a:srgbClr val="000000"/>
                        </a:solidFill>
                        <a:latin typeface="Amazon Ember" panose="02000000000000000000" pitchFamily="2" charset="0"/>
                      </a:endParaRP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668856"/>
                  </a:ext>
                </a:extLst>
              </a:tr>
              <a:tr h="73149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marL="0" algn="ctr" defTabSz="457200" rtl="0" eaLnBrk="1" latinLnBrk="0" hangingPunct="1"/>
                      <a:r>
                        <a:rPr lang="en-US" sz="19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I3, I3en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marL="0" algn="ctr" defTabSz="457200" rtl="0" eaLnBrk="1" latinLnBrk="0" hangingPunct="1"/>
                      <a:r>
                        <a:rPr lang="en-US" sz="19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Storage optimized</a:t>
                      </a:r>
                    </a:p>
                    <a:p>
                      <a:pPr marL="0" algn="ctr" defTabSz="457200" rtl="0" eaLnBrk="1" latinLnBrk="0" hangingPunct="1"/>
                      <a:r>
                        <a:rPr lang="en-US" sz="1900" b="1" kern="1200" dirty="0">
                          <a:solidFill>
                            <a:schemeClr val="tx1"/>
                          </a:solidFill>
                          <a:latin typeface="Amazon Ember"/>
                          <a:ea typeface="+mn-ea"/>
                          <a:cs typeface="+mn-cs"/>
                        </a:rPr>
                        <a:t>(I/O)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152305"/>
                  </a:ext>
                </a:extLst>
              </a:tr>
              <a:tr h="73149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H1, D2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sz="1900" dirty="0"/>
                        <a:t>Storage optimized</a:t>
                      </a:r>
                    </a:p>
                    <a:p>
                      <a:pPr algn="ctr"/>
                      <a:r>
                        <a:rPr lang="en-US" sz="1900" dirty="0"/>
                        <a:t>(Density)</a:t>
                      </a:r>
                    </a:p>
                  </a:txBody>
                  <a:tcPr marL="146322" marR="146322" marT="73136" marB="73136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47089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526BCDB-4E89-2545-A672-1C0D24E80F6A}"/>
              </a:ext>
            </a:extLst>
          </p:cNvPr>
          <p:cNvSpPr txBox="1"/>
          <p:nvPr/>
        </p:nvSpPr>
        <p:spPr>
          <a:xfrm>
            <a:off x="4096512" y="2340864"/>
            <a:ext cx="1450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LU" sz="2000" b="1" dirty="0">
                <a:solidFill>
                  <a:srgbClr val="232F3E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(4.5GHz)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AD228-0CC2-B949-BCF0-824D806E4186}"/>
              </a:ext>
            </a:extLst>
          </p:cNvPr>
          <p:cNvSpPr txBox="1"/>
          <p:nvPr/>
        </p:nvSpPr>
        <p:spPr>
          <a:xfrm>
            <a:off x="4730496" y="4254870"/>
            <a:ext cx="1450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LU" sz="2000" b="1" dirty="0">
                <a:solidFill>
                  <a:srgbClr val="232F3E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(4.0GHz)</a:t>
            </a:r>
          </a:p>
        </p:txBody>
      </p:sp>
    </p:spTree>
    <p:extLst>
      <p:ext uri="{BB962C8B-B14F-4D97-AF65-F5344CB8AC3E}">
        <p14:creationId xmlns:p14="http://schemas.microsoft.com/office/powerpoint/2010/main" val="58296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410936" y="1910261"/>
            <a:ext cx="5097030" cy="418219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088784" y="3883911"/>
            <a:ext cx="13870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16,000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7784" y="337007"/>
            <a:ext cx="13514832" cy="90412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Get the maximum EBS performance on Amazon 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7038" y="3067317"/>
            <a:ext cx="1162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algn="ctr"/>
            <a:r>
              <a:rPr lang="en-US" sz="2000" dirty="0"/>
              <a:t>GP3</a:t>
            </a:r>
          </a:p>
        </p:txBody>
      </p:sp>
      <p:sp>
        <p:nvSpPr>
          <p:cNvPr id="2" name="Rectangle 1"/>
          <p:cNvSpPr/>
          <p:nvPr/>
        </p:nvSpPr>
        <p:spPr>
          <a:xfrm>
            <a:off x="1225663" y="1322568"/>
            <a:ext cx="3031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General Purpose SSD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4512" y="2507544"/>
            <a:ext cx="20665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99.8% - 99.9% </a:t>
            </a:r>
          </a:p>
        </p:txBody>
      </p:sp>
      <p:sp>
        <p:nvSpPr>
          <p:cNvPr id="7" name="Rectangle 6"/>
          <p:cNvSpPr/>
          <p:nvPr/>
        </p:nvSpPr>
        <p:spPr>
          <a:xfrm>
            <a:off x="3088784" y="3103394"/>
            <a:ext cx="18140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1 </a:t>
            </a:r>
            <a:r>
              <a:rPr lang="en-US" sz="2000" dirty="0" err="1"/>
              <a:t>GiB</a:t>
            </a:r>
            <a:r>
              <a:rPr lang="en-US" sz="2000" dirty="0"/>
              <a:t> - 16 </a:t>
            </a:r>
            <a:r>
              <a:rPr lang="en-US" sz="2000" dirty="0" err="1"/>
              <a:t>TiB</a:t>
            </a:r>
            <a:r>
              <a:rPr lang="en-US" sz="2000" dirty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6933994" y="4483926"/>
            <a:ext cx="9525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16,000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8784" y="4798589"/>
            <a:ext cx="15359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1,000 </a:t>
            </a:r>
            <a:r>
              <a:rPr lang="en-US" sz="2000" dirty="0" err="1"/>
              <a:t>MiB</a:t>
            </a:r>
            <a:r>
              <a:rPr lang="en-US" sz="2000" dirty="0"/>
              <a:t>/s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594" y="3639815"/>
            <a:ext cx="147668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800" b="1" dirty="0"/>
              <a:t>Max IOPS </a:t>
            </a:r>
          </a:p>
          <a:p>
            <a:r>
              <a:rPr lang="it-IT" sz="1800" b="1" dirty="0"/>
              <a:t>per volume</a:t>
            </a:r>
            <a:r>
              <a:rPr lang="it-IT" sz="1800" dirty="0"/>
              <a:t> </a:t>
            </a:r>
          </a:p>
          <a:p>
            <a:r>
              <a:rPr lang="it-IT" sz="1800" dirty="0"/>
              <a:t>(16 KiB I/O) 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740594" y="4665539"/>
            <a:ext cx="20008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/>
              <a:t>Max throughput </a:t>
            </a:r>
          </a:p>
          <a:p>
            <a:r>
              <a:rPr lang="en-US" sz="1800" b="1" dirty="0"/>
              <a:t>per </a:t>
            </a:r>
            <a:r>
              <a:rPr lang="en-US" b="1" dirty="0"/>
              <a:t>volume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15490" y="3684256"/>
            <a:ext cx="782053" cy="614755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308" y="2413885"/>
            <a:ext cx="1147201" cy="114720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629535" y="1910260"/>
            <a:ext cx="3433935" cy="418219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11242476" y="1367157"/>
            <a:ext cx="1866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Amazon EC2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78308" y="3991634"/>
            <a:ext cx="30909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Max EBS Bandwidth 10,000Mbps</a:t>
            </a:r>
          </a:p>
          <a:p>
            <a:endParaRPr lang="en-US" sz="1600" dirty="0"/>
          </a:p>
        </p:txBody>
      </p:sp>
      <p:sp>
        <p:nvSpPr>
          <p:cNvPr id="27" name="Rectangle 26"/>
          <p:cNvSpPr/>
          <p:nvPr/>
        </p:nvSpPr>
        <p:spPr>
          <a:xfrm>
            <a:off x="10778308" y="4405914"/>
            <a:ext cx="21980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Maximum IOPS 43,333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78308" y="3571642"/>
            <a:ext cx="1274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R5b.4xlarge</a:t>
            </a:r>
          </a:p>
        </p:txBody>
      </p:sp>
      <p:pic>
        <p:nvPicPr>
          <p:cNvPr id="29" name="Graphic 16">
            <a:extLst>
              <a:ext uri="{FF2B5EF4-FFF2-40B4-BE49-F238E27FC236}">
                <a16:creationId xmlns:a16="http://schemas.microsoft.com/office/drawing/2014/main" id="{A2742AD6-9783-EC40-83D7-A1328EF53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7071490" y="3516914"/>
            <a:ext cx="815009" cy="8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16">
            <a:extLst>
              <a:ext uri="{FF2B5EF4-FFF2-40B4-BE49-F238E27FC236}">
                <a16:creationId xmlns:a16="http://schemas.microsoft.com/office/drawing/2014/main" id="{F8807CD7-65BC-914C-9A5A-3EDA1F261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7968417" y="3523328"/>
            <a:ext cx="815009" cy="8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0F03AC1-3477-8441-B137-887F672FE36F}"/>
              </a:ext>
            </a:extLst>
          </p:cNvPr>
          <p:cNvSpPr/>
          <p:nvPr/>
        </p:nvSpPr>
        <p:spPr>
          <a:xfrm>
            <a:off x="7935681" y="4494936"/>
            <a:ext cx="9525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16,000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B84262-C890-3640-BC73-BB02FE55C500}"/>
              </a:ext>
            </a:extLst>
          </p:cNvPr>
          <p:cNvSpPr txBox="1"/>
          <p:nvPr/>
        </p:nvSpPr>
        <p:spPr>
          <a:xfrm>
            <a:off x="7830832" y="3019286"/>
            <a:ext cx="1162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algn="ctr"/>
            <a:r>
              <a:rPr lang="en-US" sz="2000" dirty="0"/>
              <a:t>GP3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00D772-EC25-BB4F-97ED-18BCE111FF97}"/>
              </a:ext>
            </a:extLst>
          </p:cNvPr>
          <p:cNvSpPr txBox="1"/>
          <p:nvPr/>
        </p:nvSpPr>
        <p:spPr>
          <a:xfrm>
            <a:off x="740594" y="2538322"/>
            <a:ext cx="127310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LU" dirty="0"/>
              <a:t>Durability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DE9BE9-2079-A74B-8177-DBBC55EBC288}"/>
              </a:ext>
            </a:extLst>
          </p:cNvPr>
          <p:cNvSpPr txBox="1"/>
          <p:nvPr/>
        </p:nvSpPr>
        <p:spPr>
          <a:xfrm>
            <a:off x="739342" y="3144455"/>
            <a:ext cx="1792478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LU" dirty="0"/>
              <a:t>Size (Min-Max)</a:t>
            </a:r>
          </a:p>
        </p:txBody>
      </p:sp>
      <p:sp>
        <p:nvSpPr>
          <p:cNvPr id="34" name="Double Brace 33">
            <a:extLst>
              <a:ext uri="{FF2B5EF4-FFF2-40B4-BE49-F238E27FC236}">
                <a16:creationId xmlns:a16="http://schemas.microsoft.com/office/drawing/2014/main" id="{FC3CDC30-1CF2-A040-AEB3-39398960BF93}"/>
              </a:ext>
            </a:extLst>
          </p:cNvPr>
          <p:cNvSpPr/>
          <p:nvPr/>
        </p:nvSpPr>
        <p:spPr>
          <a:xfrm rot="5400000">
            <a:off x="6312147" y="2709126"/>
            <a:ext cx="3159425" cy="2568944"/>
          </a:xfrm>
          <a:prstGeom prst="bracePair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EDB1B404-E4B7-2742-A306-8DFF1AD55787}"/>
              </a:ext>
            </a:extLst>
          </p:cNvPr>
          <p:cNvSpPr/>
          <p:nvPr/>
        </p:nvSpPr>
        <p:spPr>
          <a:xfrm>
            <a:off x="9493700" y="3693977"/>
            <a:ext cx="782053" cy="614755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68FBF1-2251-EC47-BC6F-74D45544B1A2}"/>
              </a:ext>
            </a:extLst>
          </p:cNvPr>
          <p:cNvSpPr txBox="1"/>
          <p:nvPr/>
        </p:nvSpPr>
        <p:spPr>
          <a:xfrm>
            <a:off x="6564632" y="5748472"/>
            <a:ext cx="2742097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LU" sz="2400" dirty="0"/>
              <a:t>Total IOPS=32,000</a:t>
            </a:r>
          </a:p>
        </p:txBody>
      </p:sp>
    </p:spTree>
    <p:extLst>
      <p:ext uri="{BB962C8B-B14F-4D97-AF65-F5344CB8AC3E}">
        <p14:creationId xmlns:p14="http://schemas.microsoft.com/office/powerpoint/2010/main" val="218029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/>
      <p:bldP spid="26" grpId="0"/>
      <p:bldP spid="27" grpId="0"/>
      <p:bldP spid="28" grpId="0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410936" y="1910261"/>
            <a:ext cx="5097030" cy="418219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088784" y="3883911"/>
            <a:ext cx="13870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64,000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1835" y="313868"/>
            <a:ext cx="13514832" cy="90412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Get the maximum EBS performance on Amazon 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7038" y="3067317"/>
            <a:ext cx="1162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algn="ctr"/>
            <a:r>
              <a:rPr lang="en-US" sz="2000" dirty="0"/>
              <a:t>IO2</a:t>
            </a:r>
          </a:p>
        </p:txBody>
      </p:sp>
      <p:sp>
        <p:nvSpPr>
          <p:cNvPr id="2" name="Rectangle 1"/>
          <p:cNvSpPr/>
          <p:nvPr/>
        </p:nvSpPr>
        <p:spPr>
          <a:xfrm>
            <a:off x="1225663" y="1322568"/>
            <a:ext cx="3217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Provisioned IOPS SSD</a:t>
            </a:r>
          </a:p>
        </p:txBody>
      </p:sp>
      <p:sp>
        <p:nvSpPr>
          <p:cNvPr id="6" name="Rectangle 5"/>
          <p:cNvSpPr/>
          <p:nvPr/>
        </p:nvSpPr>
        <p:spPr>
          <a:xfrm>
            <a:off x="3088784" y="2507544"/>
            <a:ext cx="13773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99.999 % </a:t>
            </a:r>
          </a:p>
        </p:txBody>
      </p:sp>
      <p:sp>
        <p:nvSpPr>
          <p:cNvPr id="7" name="Rectangle 6"/>
          <p:cNvSpPr/>
          <p:nvPr/>
        </p:nvSpPr>
        <p:spPr>
          <a:xfrm>
            <a:off x="3088784" y="3103394"/>
            <a:ext cx="18437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4 GiB - 16 TiB </a:t>
            </a:r>
          </a:p>
        </p:txBody>
      </p:sp>
      <p:sp>
        <p:nvSpPr>
          <p:cNvPr id="8" name="Rectangle 7"/>
          <p:cNvSpPr/>
          <p:nvPr/>
        </p:nvSpPr>
        <p:spPr>
          <a:xfrm>
            <a:off x="6933994" y="4483926"/>
            <a:ext cx="1002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64,000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8784" y="4798589"/>
            <a:ext cx="15359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1,000 </a:t>
            </a:r>
            <a:r>
              <a:rPr lang="en-US" sz="2000" dirty="0" err="1"/>
              <a:t>MiB</a:t>
            </a:r>
            <a:r>
              <a:rPr lang="en-US" sz="2000" dirty="0"/>
              <a:t>/s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594" y="3639815"/>
            <a:ext cx="147668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800" b="1" dirty="0"/>
              <a:t>Max IOPS </a:t>
            </a:r>
          </a:p>
          <a:p>
            <a:r>
              <a:rPr lang="it-IT" sz="1800" b="1" dirty="0"/>
              <a:t>per volume</a:t>
            </a:r>
            <a:r>
              <a:rPr lang="it-IT" sz="1800" dirty="0"/>
              <a:t> </a:t>
            </a:r>
          </a:p>
          <a:p>
            <a:r>
              <a:rPr lang="it-IT" sz="1800" dirty="0"/>
              <a:t>(16 KiB I/O) </a:t>
            </a:r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740594" y="4665539"/>
            <a:ext cx="20008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/>
              <a:t>Max throughput </a:t>
            </a:r>
          </a:p>
          <a:p>
            <a:r>
              <a:rPr lang="en-US" sz="1800" b="1" dirty="0"/>
              <a:t>per </a:t>
            </a:r>
            <a:r>
              <a:rPr lang="en-US" b="1" dirty="0"/>
              <a:t>volume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15490" y="3684256"/>
            <a:ext cx="782053" cy="614755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Graphic 16">
            <a:extLst>
              <a:ext uri="{FF2B5EF4-FFF2-40B4-BE49-F238E27FC236}">
                <a16:creationId xmlns:a16="http://schemas.microsoft.com/office/drawing/2014/main" id="{A2742AD6-9783-EC40-83D7-A1328EF53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7071490" y="3516914"/>
            <a:ext cx="815009" cy="8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16">
            <a:extLst>
              <a:ext uri="{FF2B5EF4-FFF2-40B4-BE49-F238E27FC236}">
                <a16:creationId xmlns:a16="http://schemas.microsoft.com/office/drawing/2014/main" id="{F8807CD7-65BC-914C-9A5A-3EDA1F261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7968417" y="3523328"/>
            <a:ext cx="815009" cy="8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0F03AC1-3477-8441-B137-887F672FE36F}"/>
              </a:ext>
            </a:extLst>
          </p:cNvPr>
          <p:cNvSpPr/>
          <p:nvPr/>
        </p:nvSpPr>
        <p:spPr>
          <a:xfrm>
            <a:off x="7935681" y="4494936"/>
            <a:ext cx="1002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64,000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B84262-C890-3640-BC73-BB02FE55C500}"/>
              </a:ext>
            </a:extLst>
          </p:cNvPr>
          <p:cNvSpPr txBox="1"/>
          <p:nvPr/>
        </p:nvSpPr>
        <p:spPr>
          <a:xfrm>
            <a:off x="7830832" y="3019286"/>
            <a:ext cx="1162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pPr algn="ctr"/>
            <a:r>
              <a:rPr lang="en-US" sz="2000" dirty="0"/>
              <a:t>IO2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00D772-EC25-BB4F-97ED-18BCE111FF97}"/>
              </a:ext>
            </a:extLst>
          </p:cNvPr>
          <p:cNvSpPr txBox="1"/>
          <p:nvPr/>
        </p:nvSpPr>
        <p:spPr>
          <a:xfrm>
            <a:off x="740594" y="2538322"/>
            <a:ext cx="127310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LU" dirty="0"/>
              <a:t>Durability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DE9BE9-2079-A74B-8177-DBBC55EBC288}"/>
              </a:ext>
            </a:extLst>
          </p:cNvPr>
          <p:cNvSpPr txBox="1"/>
          <p:nvPr/>
        </p:nvSpPr>
        <p:spPr>
          <a:xfrm>
            <a:off x="725473" y="3093750"/>
            <a:ext cx="1792478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LU" dirty="0"/>
              <a:t>Size (Min-Max)</a:t>
            </a:r>
          </a:p>
        </p:txBody>
      </p:sp>
      <p:sp>
        <p:nvSpPr>
          <p:cNvPr id="34" name="Double Brace 33">
            <a:extLst>
              <a:ext uri="{FF2B5EF4-FFF2-40B4-BE49-F238E27FC236}">
                <a16:creationId xmlns:a16="http://schemas.microsoft.com/office/drawing/2014/main" id="{FC3CDC30-1CF2-A040-AEB3-39398960BF93}"/>
              </a:ext>
            </a:extLst>
          </p:cNvPr>
          <p:cNvSpPr/>
          <p:nvPr/>
        </p:nvSpPr>
        <p:spPr>
          <a:xfrm rot="5400000">
            <a:off x="6312147" y="2709126"/>
            <a:ext cx="3159425" cy="2568944"/>
          </a:xfrm>
          <a:prstGeom prst="bracePair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LU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EDB1B404-E4B7-2742-A306-8DFF1AD55787}"/>
              </a:ext>
            </a:extLst>
          </p:cNvPr>
          <p:cNvSpPr/>
          <p:nvPr/>
        </p:nvSpPr>
        <p:spPr>
          <a:xfrm>
            <a:off x="9493700" y="3693977"/>
            <a:ext cx="782053" cy="614755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68FBF1-2251-EC47-BC6F-74D45544B1A2}"/>
              </a:ext>
            </a:extLst>
          </p:cNvPr>
          <p:cNvSpPr txBox="1"/>
          <p:nvPr/>
        </p:nvSpPr>
        <p:spPr>
          <a:xfrm>
            <a:off x="6564632" y="5748472"/>
            <a:ext cx="2923236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LU" sz="2400" dirty="0"/>
              <a:t>Total IOPS=128,000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95BE7B6-FA8C-4D49-AE98-852CDD11A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8308" y="2413885"/>
            <a:ext cx="1147201" cy="1147201"/>
          </a:xfrm>
          <a:prstGeom prst="rect">
            <a:avLst/>
          </a:prstGeom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E16A8D2-58E5-A142-94E1-48C80DA14C4B}"/>
              </a:ext>
            </a:extLst>
          </p:cNvPr>
          <p:cNvSpPr/>
          <p:nvPr/>
        </p:nvSpPr>
        <p:spPr>
          <a:xfrm>
            <a:off x="10629535" y="1910260"/>
            <a:ext cx="3433935" cy="418219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D3B622-E686-F34A-A12D-3619FC75B63F}"/>
              </a:ext>
            </a:extLst>
          </p:cNvPr>
          <p:cNvSpPr/>
          <p:nvPr/>
        </p:nvSpPr>
        <p:spPr>
          <a:xfrm>
            <a:off x="11242476" y="1367157"/>
            <a:ext cx="1866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Amazon EC2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E04CE6-B5BE-6046-B12A-525AEDA931DF}"/>
              </a:ext>
            </a:extLst>
          </p:cNvPr>
          <p:cNvSpPr/>
          <p:nvPr/>
        </p:nvSpPr>
        <p:spPr>
          <a:xfrm>
            <a:off x="10778308" y="3991634"/>
            <a:ext cx="30909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Max EBS Bandwidth 30,000Mbps</a:t>
            </a:r>
          </a:p>
          <a:p>
            <a:endParaRPr lang="en-US" sz="16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6C707B3-2958-664F-ACA2-08C8BB8B07FD}"/>
              </a:ext>
            </a:extLst>
          </p:cNvPr>
          <p:cNvSpPr/>
          <p:nvPr/>
        </p:nvSpPr>
        <p:spPr>
          <a:xfrm>
            <a:off x="10778308" y="4405914"/>
            <a:ext cx="23679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Maximum IOPS 130,000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F4DB63F-7679-F24B-9F9B-AB9BA7E802A1}"/>
              </a:ext>
            </a:extLst>
          </p:cNvPr>
          <p:cNvSpPr/>
          <p:nvPr/>
        </p:nvSpPr>
        <p:spPr>
          <a:xfrm>
            <a:off x="10778308" y="3571642"/>
            <a:ext cx="13821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R5b.12xlarge</a:t>
            </a:r>
          </a:p>
        </p:txBody>
      </p:sp>
    </p:spTree>
    <p:extLst>
      <p:ext uri="{BB962C8B-B14F-4D97-AF65-F5344CB8AC3E}">
        <p14:creationId xmlns:p14="http://schemas.microsoft.com/office/powerpoint/2010/main" val="67153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5" grpId="0" animBg="1"/>
      <p:bldP spid="38" grpId="0" animBg="1"/>
      <p:bldP spid="39" grpId="0"/>
      <p:bldP spid="40" grpId="0"/>
      <p:bldP spid="41" grpId="0"/>
      <p:bldP spid="4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DDC0-92DB-F447-985C-653079D4D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01522"/>
            <a:ext cx="13167360" cy="731521"/>
          </a:xfrm>
        </p:spPr>
        <p:txBody>
          <a:bodyPr/>
          <a:lstStyle/>
          <a:p>
            <a:r>
              <a:rPr lang="en-GB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Amazon EBS io2 Block Express Volumes</a:t>
            </a:r>
            <a:br>
              <a:rPr lang="en-GB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</a:br>
            <a:endParaRPr lang="en-LU" sz="4400" b="1" spc="80" dirty="0"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BC22C-73BB-F54A-A85B-2DB256F00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186" y="2210191"/>
            <a:ext cx="1657532" cy="165753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C2D0FE5-DC1C-3F40-965A-8144A06784C0}"/>
              </a:ext>
            </a:extLst>
          </p:cNvPr>
          <p:cNvGrpSpPr/>
          <p:nvPr/>
        </p:nvGrpSpPr>
        <p:grpSpPr>
          <a:xfrm>
            <a:off x="1058380" y="4802998"/>
            <a:ext cx="1740220" cy="1712632"/>
            <a:chOff x="2707941" y="3329692"/>
            <a:chExt cx="1740220" cy="1712632"/>
          </a:xfrm>
        </p:grpSpPr>
        <p:pic>
          <p:nvPicPr>
            <p:cNvPr id="4" name="Graphic 16">
              <a:extLst>
                <a:ext uri="{FF2B5EF4-FFF2-40B4-BE49-F238E27FC236}">
                  <a16:creationId xmlns:a16="http://schemas.microsoft.com/office/drawing/2014/main" id="{509D09CA-2C17-2B41-A50E-BF3DC4279C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3028678" y="3329692"/>
              <a:ext cx="1169156" cy="116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9E5EA9-7B0F-CB4C-AF6E-33E4A1C6D2AD}"/>
                </a:ext>
              </a:extLst>
            </p:cNvPr>
            <p:cNvSpPr txBox="1"/>
            <p:nvPr/>
          </p:nvSpPr>
          <p:spPr>
            <a:xfrm>
              <a:off x="2707941" y="4703770"/>
              <a:ext cx="1740220" cy="338554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algn="l">
                <a:spcAft>
                  <a:spcPts val="1200"/>
                </a:spcAft>
              </a:pPr>
              <a:r>
                <a:rPr lang="en-LU" sz="1600" dirty="0"/>
                <a:t>IO2 Block Express</a:t>
              </a:r>
            </a:p>
          </p:txBody>
        </p:sp>
      </p:grp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AC53D1-FD85-6F46-9CF0-9BFBFBDA476E}"/>
              </a:ext>
            </a:extLst>
          </p:cNvPr>
          <p:cNvSpPr/>
          <p:nvPr/>
        </p:nvSpPr>
        <p:spPr>
          <a:xfrm>
            <a:off x="731520" y="1920240"/>
            <a:ext cx="4626864" cy="5157216"/>
          </a:xfrm>
          <a:prstGeom prst="roundRect">
            <a:avLst>
              <a:gd name="adj" fmla="val 7802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LU" dirty="0" err="1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698D2ED-B686-D14F-AF84-B300684565CA}"/>
              </a:ext>
            </a:extLst>
          </p:cNvPr>
          <p:cNvGrpSpPr/>
          <p:nvPr/>
        </p:nvGrpSpPr>
        <p:grpSpPr>
          <a:xfrm>
            <a:off x="3277280" y="4802998"/>
            <a:ext cx="1740220" cy="1720729"/>
            <a:chOff x="2743146" y="3329692"/>
            <a:chExt cx="1740220" cy="1720729"/>
          </a:xfrm>
        </p:grpSpPr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36457898-E37B-4746-A402-654F7793BE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3028678" y="3329692"/>
              <a:ext cx="1169156" cy="116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86313F-1AF3-E940-AA40-C9CFFCD0EB49}"/>
                </a:ext>
              </a:extLst>
            </p:cNvPr>
            <p:cNvSpPr txBox="1"/>
            <p:nvPr/>
          </p:nvSpPr>
          <p:spPr>
            <a:xfrm>
              <a:off x="2743146" y="4711867"/>
              <a:ext cx="1740220" cy="338554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algn="l">
                <a:spcAft>
                  <a:spcPts val="1200"/>
                </a:spcAft>
              </a:pPr>
              <a:r>
                <a:rPr lang="en-LU" sz="1600" dirty="0"/>
                <a:t>IO2 Block Express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78FB662-C0E0-1440-8DF6-89BBE3D26A99}"/>
              </a:ext>
            </a:extLst>
          </p:cNvPr>
          <p:cNvSpPr txBox="1"/>
          <p:nvPr/>
        </p:nvSpPr>
        <p:spPr>
          <a:xfrm>
            <a:off x="6005981" y="2391424"/>
            <a:ext cx="6809232" cy="412420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LU" sz="2400" dirty="0"/>
              <a:t>256.000 IOPS per volume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LU" sz="2400" dirty="0"/>
              <a:t>4000 MB/s throughput per vikume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LU" sz="2400" dirty="0"/>
              <a:t>64 TiB per volume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LU" sz="2400" dirty="0"/>
              <a:t>99.999% durability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LU" sz="2400" dirty="0"/>
              <a:t>Available with Amazon EC2 R5b instances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Supports standard io2 features 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LU" sz="2400" dirty="0"/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LU" sz="2400" dirty="0"/>
          </a:p>
        </p:txBody>
      </p:sp>
    </p:spTree>
    <p:extLst>
      <p:ext uri="{BB962C8B-B14F-4D97-AF65-F5344CB8AC3E}">
        <p14:creationId xmlns:p14="http://schemas.microsoft.com/office/powerpoint/2010/main" val="1679376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Place </a:t>
            </a:r>
            <a:r>
              <a:rPr lang="en-US" sz="4400" b="1" spc="80" dirty="0" err="1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tempdb</a:t>
            </a:r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in EC2 Instance Store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0210" y="1801975"/>
            <a:ext cx="3275780" cy="418219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93150" y="1258872"/>
            <a:ext cx="1866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Amazon EC2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13"/>
          <a:stretch/>
        </p:blipFill>
        <p:spPr>
          <a:xfrm>
            <a:off x="1333551" y="4849650"/>
            <a:ext cx="1192707" cy="11345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13"/>
          <a:stretch/>
        </p:blipFill>
        <p:spPr>
          <a:xfrm>
            <a:off x="2729854" y="4862407"/>
            <a:ext cx="1192707" cy="113451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77326" y="1956967"/>
            <a:ext cx="795287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instance storage?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 instance types come with direct attached disk-based storage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SSD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NVMe</a:t>
            </a:r>
            <a:r>
              <a:rPr lang="en-US" sz="2000" dirty="0"/>
              <a:t> SSD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Included in the hourly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on instance storage does not persist a user- initiated instance stop/start or hardware failure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Fast disk I/O without going over the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Traffic does not count towards EBS IOPS</a:t>
            </a:r>
          </a:p>
        </p:txBody>
      </p:sp>
      <p:pic>
        <p:nvPicPr>
          <p:cNvPr id="10" name="Graphic 104">
            <a:extLst>
              <a:ext uri="{FF2B5EF4-FFF2-40B4-BE49-F238E27FC236}">
                <a16:creationId xmlns:a16="http://schemas.microsoft.com/office/drawing/2014/main" id="{4DB6BEF5-37F1-124F-A0CE-0F408E1D6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1135577" y="2071306"/>
            <a:ext cx="1162455" cy="1162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2414406" y="2359569"/>
            <a:ext cx="1534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z1d.12xlarge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98032" y="2841117"/>
            <a:ext cx="19175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2 x 900 </a:t>
            </a:r>
            <a:r>
              <a:rPr lang="en-US" sz="1600" dirty="0" err="1"/>
              <a:t>NVMe</a:t>
            </a:r>
            <a:r>
              <a:rPr lang="en-US" sz="1600" dirty="0"/>
              <a:t> SSD</a:t>
            </a:r>
          </a:p>
        </p:txBody>
      </p:sp>
    </p:spTree>
    <p:extLst>
      <p:ext uri="{BB962C8B-B14F-4D97-AF65-F5344CB8AC3E}">
        <p14:creationId xmlns:p14="http://schemas.microsoft.com/office/powerpoint/2010/main" val="313849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45720" rIns="91440" bIns="45720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Place </a:t>
            </a:r>
            <a:r>
              <a:rPr lang="en-US" sz="4400" b="1" spc="80" dirty="0" err="1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tempdb</a:t>
            </a:r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in EC2 Instance Store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0210" y="1801975"/>
            <a:ext cx="3275780" cy="4182190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93150" y="1258872"/>
            <a:ext cx="1866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Amazon EC2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13"/>
          <a:stretch/>
        </p:blipFill>
        <p:spPr>
          <a:xfrm>
            <a:off x="1333551" y="4849650"/>
            <a:ext cx="1192707" cy="11345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13"/>
          <a:stretch/>
        </p:blipFill>
        <p:spPr>
          <a:xfrm>
            <a:off x="2729854" y="4862407"/>
            <a:ext cx="1192707" cy="113451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77326" y="1956967"/>
            <a:ext cx="795287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What is instance storage?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 instance types come with direct attached disk-based storage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SSD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NVMe</a:t>
            </a:r>
            <a:r>
              <a:rPr lang="en-US" sz="2000" dirty="0"/>
              <a:t> SSD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Included in the hourly cost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on instance storage does not persist a user- initiated instance stop/start or hardware failure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Fast disk I/O without going over the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Traffic does not count towards EBS IOPS</a:t>
            </a:r>
          </a:p>
        </p:txBody>
      </p:sp>
      <p:pic>
        <p:nvPicPr>
          <p:cNvPr id="10" name="Graphic 104">
            <a:extLst>
              <a:ext uri="{FF2B5EF4-FFF2-40B4-BE49-F238E27FC236}">
                <a16:creationId xmlns:a16="http://schemas.microsoft.com/office/drawing/2014/main" id="{4DB6BEF5-37F1-124F-A0CE-0F408E1D6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1135577" y="2071306"/>
            <a:ext cx="1162455" cy="1162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2414406" y="2359569"/>
            <a:ext cx="1534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z1d.12xlarge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98032" y="2841117"/>
            <a:ext cx="19175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2 x 900 </a:t>
            </a:r>
            <a:r>
              <a:rPr lang="en-US" sz="1600" dirty="0" err="1"/>
              <a:t>NVMe</a:t>
            </a:r>
            <a:r>
              <a:rPr lang="en-US" sz="1600" dirty="0"/>
              <a:t> SSD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264935" y="3268041"/>
            <a:ext cx="2706330" cy="741377"/>
            <a:chOff x="2841859" y="2631118"/>
            <a:chExt cx="2706330" cy="741377"/>
          </a:xfrm>
        </p:grpSpPr>
        <p:sp>
          <p:nvSpPr>
            <p:cNvPr id="5" name="Cube 4"/>
            <p:cNvSpPr/>
            <p:nvPr/>
          </p:nvSpPr>
          <p:spPr>
            <a:xfrm>
              <a:off x="2841859" y="2643875"/>
              <a:ext cx="1414131" cy="728620"/>
            </a:xfrm>
            <a:prstGeom prst="cube">
              <a:avLst>
                <a:gd name="adj" fmla="val 64286"/>
              </a:avLst>
            </a:prstGeom>
            <a:solidFill>
              <a:schemeClr val="bg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ube 12"/>
            <p:cNvSpPr/>
            <p:nvPr/>
          </p:nvSpPr>
          <p:spPr>
            <a:xfrm>
              <a:off x="4134058" y="2631118"/>
              <a:ext cx="1414131" cy="728620"/>
            </a:xfrm>
            <a:prstGeom prst="cube">
              <a:avLst>
                <a:gd name="adj" fmla="val 64286"/>
              </a:avLst>
            </a:prstGeom>
            <a:solidFill>
              <a:schemeClr val="bg1">
                <a:lumMod val="75000"/>
                <a:lumOff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6055483" y="2925876"/>
            <a:ext cx="3683939" cy="1412949"/>
          </a:xfrm>
          <a:prstGeom prst="round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953693" y="2559624"/>
            <a:ext cx="1818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Disk Mirroring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4555972" y="3268041"/>
            <a:ext cx="2604976" cy="859022"/>
            <a:chOff x="9443927" y="5429664"/>
            <a:chExt cx="2604976" cy="859022"/>
          </a:xfrm>
        </p:grpSpPr>
        <p:pic>
          <p:nvPicPr>
            <p:cNvPr id="16" name="Graphic 10">
              <a:extLst>
                <a:ext uri="{FF2B5EF4-FFF2-40B4-BE49-F238E27FC236}">
                  <a16:creationId xmlns:a16="http://schemas.microsoft.com/office/drawing/2014/main" id="{B7ADA2CC-E930-D14D-911D-04AB3BAE6C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43927" y="5429664"/>
              <a:ext cx="859022" cy="859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10185990" y="5566787"/>
              <a:ext cx="18629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dirty="0" err="1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tempdb</a:t>
              </a:r>
              <a:r>
                <a:rPr lang="en-US" sz="16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 data files</a:t>
              </a:r>
            </a:p>
            <a:p>
              <a:pPr algn="l"/>
              <a:r>
                <a:rPr lang="en-US" sz="1600" dirty="0" err="1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tempdb</a:t>
              </a:r>
              <a:r>
                <a:rPr lang="en-US" sz="16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 log files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492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9583E-6 2.22222E-6 L 0.00358 0.76736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3836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04861E-6 3.7037E-7 L 0.36317 -0.00154 " pathEditMode="relative" rAng="0" ptsTypes="AA">
                                      <p:cBhvr>
                                        <p:cTn id="11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53" y="-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3194E-6 3.02469E-6 L -0.25 3.02469E-6 " pathEditMode="relative" rAng="0" ptsTypes="AA">
                                      <p:cBhvr>
                                        <p:cTn id="2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228BD6C-DE0E-4847-864E-73BD46B19A40}"/>
              </a:ext>
            </a:extLst>
          </p:cNvPr>
          <p:cNvGrpSpPr/>
          <p:nvPr/>
        </p:nvGrpSpPr>
        <p:grpSpPr>
          <a:xfrm>
            <a:off x="842476" y="1427011"/>
            <a:ext cx="12856379" cy="5688164"/>
            <a:chOff x="842476" y="1427011"/>
            <a:chExt cx="12856379" cy="568816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FD5CE50-B592-7146-ABA7-078E3987E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2477" y="1427011"/>
              <a:ext cx="411480" cy="41148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F7DA15-5000-E144-AF4E-8212F1E19025}"/>
                </a:ext>
              </a:extLst>
            </p:cNvPr>
            <p:cNvSpPr/>
            <p:nvPr/>
          </p:nvSpPr>
          <p:spPr>
            <a:xfrm>
              <a:off x="842476" y="1427011"/>
              <a:ext cx="12856379" cy="5688164"/>
            </a:xfrm>
            <a:prstGeom prst="rect">
              <a:avLst/>
            </a:prstGeom>
            <a:noFill/>
            <a:ln w="12700">
              <a:solidFill>
                <a:srgbClr val="B6BAB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8640" tIns="109728" rIns="109728" bIns="5486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rgbClr val="B6BABF"/>
                  </a:solidFill>
                  <a:effectLst/>
                  <a:uLnTx/>
                  <a:uFillTx/>
                  <a:latin typeface="Amazon Ember"/>
                  <a:ea typeface="+mn-ea"/>
                  <a:cs typeface="+mn-cs"/>
                </a:rPr>
                <a:t>Region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C6C6EB6-0404-BE4E-98A2-EAEBAA57DB18}"/>
              </a:ext>
            </a:extLst>
          </p:cNvPr>
          <p:cNvGrpSpPr/>
          <p:nvPr/>
        </p:nvGrpSpPr>
        <p:grpSpPr>
          <a:xfrm>
            <a:off x="1366074" y="2918630"/>
            <a:ext cx="4625937" cy="1550762"/>
            <a:chOff x="7493514" y="2902326"/>
            <a:chExt cx="4625937" cy="155076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E9C5803-ED9A-B84D-9858-7221125C1E3D}"/>
                </a:ext>
              </a:extLst>
            </p:cNvPr>
            <p:cNvSpPr txBox="1"/>
            <p:nvPr/>
          </p:nvSpPr>
          <p:spPr>
            <a:xfrm>
              <a:off x="9076968" y="3466149"/>
              <a:ext cx="3042483" cy="53569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"/>
                  <a:ea typeface="+mn-ea"/>
                  <a:cs typeface="+mn-cs"/>
                </a:rPr>
                <a:t>Amazon FSx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"/>
                  <a:ea typeface="+mn-ea"/>
                  <a:cs typeface="+mn-cs"/>
                </a:rPr>
                <a:t>for Windows File Server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AFCDED-FCF4-644F-80F1-4AE244A1B326}"/>
                </a:ext>
              </a:extLst>
            </p:cNvPr>
            <p:cNvSpPr txBox="1"/>
            <p:nvPr/>
          </p:nvSpPr>
          <p:spPr>
            <a:xfrm>
              <a:off x="7521924" y="4169842"/>
              <a:ext cx="3924995" cy="2832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l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mazon Ember"/>
                  <a:ea typeface="+mn-ea"/>
                  <a:cs typeface="+mn-cs"/>
                </a:rPr>
                <a:t>\\fs-0123456789.example.com</a:t>
              </a: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B2B5EFAF-C7B6-204F-BAE4-D0A1A964C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93514" y="2902326"/>
              <a:ext cx="1479123" cy="1479123"/>
            </a:xfrm>
            <a:prstGeom prst="rect">
              <a:avLst/>
            </a:prstGeom>
          </p:spPr>
        </p:pic>
      </p:grpSp>
      <p:sp>
        <p:nvSpPr>
          <p:cNvPr id="43" name="Title 1">
            <a:extLst>
              <a:ext uri="{FF2B5EF4-FFF2-40B4-BE49-F238E27FC236}">
                <a16:creationId xmlns:a16="http://schemas.microsoft.com/office/drawing/2014/main" id="{AC585F8B-A0C9-174E-8DCA-5E644D0B6E11}"/>
              </a:ext>
            </a:extLst>
          </p:cNvPr>
          <p:cNvSpPr txBox="1">
            <a:spLocks/>
          </p:cNvSpPr>
          <p:nvPr/>
        </p:nvSpPr>
        <p:spPr>
          <a:xfrm>
            <a:off x="323850" y="347413"/>
            <a:ext cx="13982827" cy="107959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defTabSz="1097280">
              <a:lnSpc>
                <a:spcPct val="90000"/>
              </a:lnSpc>
              <a:spcBef>
                <a:spcPct val="0"/>
              </a:spcBef>
              <a:buNone/>
              <a:defRPr sz="4400" b="1" spc="8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lvl1pPr>
          </a:lstStyle>
          <a:p>
            <a:r>
              <a:rPr lang="en-US" dirty="0"/>
              <a:t>Amazon </a:t>
            </a:r>
            <a:r>
              <a:rPr lang="en-US" dirty="0" err="1"/>
              <a:t>FSx</a:t>
            </a:r>
            <a:r>
              <a:rPr lang="en-US" dirty="0"/>
              <a:t> for Windows File Server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28AF724-EDC3-9541-804F-B573F6767E96}"/>
              </a:ext>
            </a:extLst>
          </p:cNvPr>
          <p:cNvGrpSpPr/>
          <p:nvPr/>
        </p:nvGrpSpPr>
        <p:grpSpPr>
          <a:xfrm>
            <a:off x="12328496" y="192591"/>
            <a:ext cx="2301904" cy="1234420"/>
            <a:chOff x="6620627" y="1158167"/>
            <a:chExt cx="2301904" cy="123442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DA20092-219A-4448-B1C4-12E5AC3670E7}"/>
                </a:ext>
              </a:extLst>
            </p:cNvPr>
            <p:cNvSpPr txBox="1"/>
            <p:nvPr/>
          </p:nvSpPr>
          <p:spPr>
            <a:xfrm>
              <a:off x="6620627" y="1869367"/>
              <a:ext cx="23019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Amazon </a:t>
              </a:r>
              <a:r>
                <a:rPr lang="en-US" sz="1400" dirty="0" err="1"/>
                <a:t>FSx</a:t>
              </a:r>
              <a:r>
                <a:rPr lang="en-US" sz="1400" dirty="0"/>
                <a:t> for Windows File Server</a:t>
              </a: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F889677A-F845-134A-B023-11CEA997E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415979" y="1158167"/>
              <a:ext cx="711200" cy="7112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F2432CC-5F66-D448-9B00-D2785E5B8B3E}"/>
              </a:ext>
            </a:extLst>
          </p:cNvPr>
          <p:cNvGrpSpPr/>
          <p:nvPr/>
        </p:nvGrpSpPr>
        <p:grpSpPr>
          <a:xfrm>
            <a:off x="9895685" y="3172318"/>
            <a:ext cx="1513305" cy="1884964"/>
            <a:chOff x="7772418" y="2952297"/>
            <a:chExt cx="1513305" cy="188496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BE3DAB6-41B5-3E41-98EC-93BBA5AAF8E7}"/>
                </a:ext>
              </a:extLst>
            </p:cNvPr>
            <p:cNvSpPr txBox="1"/>
            <p:nvPr/>
          </p:nvSpPr>
          <p:spPr>
            <a:xfrm>
              <a:off x="7772418" y="4190930"/>
              <a:ext cx="15133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/>
                <a:t>SQL DB instance</a:t>
              </a:r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7D51D9E6-38A5-544F-B4DD-016B393DF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27794" y="2952297"/>
              <a:ext cx="1138714" cy="1138714"/>
            </a:xfrm>
            <a:prstGeom prst="rect">
              <a:avLst/>
            </a:prstGeom>
          </p:spPr>
        </p:pic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2A5A0BE-C9C4-3249-B4A5-BE8D9FA85F08}"/>
              </a:ext>
            </a:extLst>
          </p:cNvPr>
          <p:cNvCxnSpPr/>
          <p:nvPr/>
        </p:nvCxnSpPr>
        <p:spPr>
          <a:xfrm flipH="1">
            <a:off x="6719960" y="4114800"/>
            <a:ext cx="268062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C6459A6-20D6-3E40-8C14-390F154FEAEA}"/>
              </a:ext>
            </a:extLst>
          </p:cNvPr>
          <p:cNvGrpSpPr/>
          <p:nvPr/>
        </p:nvGrpSpPr>
        <p:grpSpPr>
          <a:xfrm>
            <a:off x="1823445" y="4868448"/>
            <a:ext cx="1021752" cy="1467674"/>
            <a:chOff x="2018102" y="4861663"/>
            <a:chExt cx="1021752" cy="1467674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06D2CBBA-DBDB-424C-AF0F-4D36F1951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55401" y="4861663"/>
              <a:ext cx="851270" cy="85127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37A62B-BDE3-2846-BFF6-A5CDD7C37BA3}"/>
                </a:ext>
              </a:extLst>
            </p:cNvPr>
            <p:cNvSpPr txBox="1"/>
            <p:nvPr/>
          </p:nvSpPr>
          <p:spPr>
            <a:xfrm>
              <a:off x="2018102" y="5784572"/>
              <a:ext cx="1021752" cy="5447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mdf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47289A5-0B1E-D94F-AA55-55EB1B3C1F9C}"/>
              </a:ext>
            </a:extLst>
          </p:cNvPr>
          <p:cNvGrpSpPr/>
          <p:nvPr/>
        </p:nvGrpSpPr>
        <p:grpSpPr>
          <a:xfrm>
            <a:off x="2688251" y="4868448"/>
            <a:ext cx="1021752" cy="1471378"/>
            <a:chOff x="2882908" y="4861663"/>
            <a:chExt cx="1021752" cy="1471378"/>
          </a:xfrm>
        </p:grpSpPr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CA14202B-13C9-8645-A5D1-81DC6FCC9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043180" y="4861663"/>
              <a:ext cx="851270" cy="85127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F9EA2BD-3B6A-2F44-8F3A-81BB5267215B}"/>
                </a:ext>
              </a:extLst>
            </p:cNvPr>
            <p:cNvSpPr txBox="1"/>
            <p:nvPr/>
          </p:nvSpPr>
          <p:spPr>
            <a:xfrm>
              <a:off x="2882908" y="5788276"/>
              <a:ext cx="1021752" cy="5447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n</a:t>
              </a:r>
              <a:r>
                <a:rPr lang="en-US" sz="18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df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303A0E3-CB3A-A148-BE01-6D7A922353DE}"/>
              </a:ext>
            </a:extLst>
          </p:cNvPr>
          <p:cNvGrpSpPr/>
          <p:nvPr/>
        </p:nvGrpSpPr>
        <p:grpSpPr>
          <a:xfrm>
            <a:off x="3619046" y="4868448"/>
            <a:ext cx="1021752" cy="1446234"/>
            <a:chOff x="3813703" y="4861663"/>
            <a:chExt cx="1021752" cy="1446234"/>
          </a:xfrm>
        </p:grpSpPr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D503AD0D-7A02-744E-838D-4B26CD61C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98944" y="4861663"/>
              <a:ext cx="851270" cy="85127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5D3E4B7-0976-3B4E-9563-5AB2E0CA72AC}"/>
                </a:ext>
              </a:extLst>
            </p:cNvPr>
            <p:cNvSpPr txBox="1"/>
            <p:nvPr/>
          </p:nvSpPr>
          <p:spPr>
            <a:xfrm>
              <a:off x="3813703" y="5763132"/>
              <a:ext cx="1021752" cy="5447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ldf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A1C9CA8-09AE-A144-8DB8-C8454A149C23}"/>
              </a:ext>
            </a:extLst>
          </p:cNvPr>
          <p:cNvSpPr txBox="1"/>
          <p:nvPr/>
        </p:nvSpPr>
        <p:spPr>
          <a:xfrm>
            <a:off x="6171974" y="2766348"/>
            <a:ext cx="7526881" cy="32316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US" sz="1600" dirty="0"/>
              <a:t>CREATE DATABASE [</a:t>
            </a:r>
            <a:r>
              <a:rPr lang="en-US" sz="1600" dirty="0" err="1"/>
              <a:t>DBonFSx</a:t>
            </a:r>
            <a:r>
              <a:rPr lang="en-US" sz="1600" dirty="0"/>
              <a:t>] ON PRIMARY ( name = </a:t>
            </a:r>
            <a:r>
              <a:rPr lang="en-US" sz="1600" dirty="0" err="1"/>
              <a:t>N’DBonFSx_data</a:t>
            </a:r>
            <a:r>
              <a:rPr lang="en-US" sz="1600" dirty="0"/>
              <a:t>’, </a:t>
            </a:r>
          </a:p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US" sz="1600" dirty="0">
                <a:highlight>
                  <a:srgbClr val="FFFF00"/>
                </a:highlight>
              </a:rPr>
              <a:t>filename = N’\\fs-0123456789.example.com\DB\</a:t>
            </a:r>
            <a:r>
              <a:rPr lang="en-US" sz="1600" dirty="0" err="1">
                <a:highlight>
                  <a:srgbClr val="FFFF00"/>
                </a:highlight>
              </a:rPr>
              <a:t>DBonFSx_data.mdf</a:t>
            </a:r>
            <a:r>
              <a:rPr lang="en-US" sz="1600" dirty="0">
                <a:highlight>
                  <a:srgbClr val="FFFF00"/>
                </a:highlight>
              </a:rPr>
              <a:t>’, </a:t>
            </a:r>
          </a:p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US" sz="1600" dirty="0"/>
              <a:t>size = 8192kb, </a:t>
            </a:r>
            <a:r>
              <a:rPr lang="en-US" sz="1600" dirty="0" err="1"/>
              <a:t>maxsize</a:t>
            </a:r>
            <a:r>
              <a:rPr lang="en-US" sz="1600" dirty="0"/>
              <a:t> = </a:t>
            </a:r>
            <a:r>
              <a:rPr lang="en-US" sz="1600" dirty="0" err="1"/>
              <a:t>unlimited,filegrowth</a:t>
            </a:r>
            <a:r>
              <a:rPr lang="en-US" sz="1600" dirty="0"/>
              <a:t> = 1024kb ) </a:t>
            </a:r>
          </a:p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US" sz="1600" dirty="0"/>
              <a:t>log ON ( name = </a:t>
            </a:r>
            <a:r>
              <a:rPr lang="en-US" sz="1600" dirty="0" err="1"/>
              <a:t>N'DBonFSx_log</a:t>
            </a:r>
            <a:r>
              <a:rPr lang="en-US" sz="1600" dirty="0"/>
              <a:t>’, </a:t>
            </a:r>
          </a:p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US" sz="1600" dirty="0">
                <a:highlight>
                  <a:srgbClr val="FFFF00"/>
                </a:highlight>
              </a:rPr>
              <a:t>filename =N‘\\fs-0123456789.example.com\DB\</a:t>
            </a:r>
            <a:r>
              <a:rPr lang="en-US" sz="1600" dirty="0" err="1">
                <a:highlight>
                  <a:srgbClr val="FFFF00"/>
                </a:highlight>
              </a:rPr>
              <a:t>DBonFSx_log.ldf</a:t>
            </a:r>
            <a:r>
              <a:rPr lang="en-US" sz="1600" dirty="0">
                <a:highlight>
                  <a:srgbClr val="FFFF00"/>
                </a:highlight>
              </a:rPr>
              <a:t>’, </a:t>
            </a:r>
          </a:p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US" sz="1600" dirty="0"/>
              <a:t>size = 1024kb, </a:t>
            </a:r>
            <a:r>
              <a:rPr lang="en-US" sz="1600" dirty="0" err="1"/>
              <a:t>maxsize</a:t>
            </a:r>
            <a:r>
              <a:rPr lang="en-US" sz="1600" dirty="0"/>
              <a:t> = 2048gb, </a:t>
            </a:r>
            <a:r>
              <a:rPr lang="en-US" sz="1600" dirty="0" err="1"/>
              <a:t>filegrowth</a:t>
            </a:r>
            <a:r>
              <a:rPr lang="en-US" sz="1600" dirty="0"/>
              <a:t> = 10%) </a:t>
            </a:r>
          </a:p>
          <a:p>
            <a:pPr>
              <a:lnSpc>
                <a:spcPct val="90000"/>
              </a:lnSpc>
              <a:spcAft>
                <a:spcPts val="1800"/>
              </a:spcAft>
            </a:pPr>
            <a:r>
              <a:rPr lang="en-US" sz="1600" dirty="0"/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6555263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 your disk layout or file distribution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293277" y="968991"/>
            <a:ext cx="5884506" cy="1241946"/>
            <a:chOff x="4363802" y="1323833"/>
            <a:chExt cx="5884506" cy="1241946"/>
          </a:xfrm>
        </p:grpSpPr>
        <p:sp>
          <p:nvSpPr>
            <p:cNvPr id="3" name="Cube 2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209732" y="1784683"/>
              <a:ext cx="1992574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Data Files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293277" y="2292824"/>
            <a:ext cx="5884506" cy="1241946"/>
            <a:chOff x="4363802" y="1323833"/>
            <a:chExt cx="5884506" cy="1241946"/>
          </a:xfrm>
        </p:grpSpPr>
        <p:sp>
          <p:nvSpPr>
            <p:cNvPr id="7" name="Cube 6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09732" y="1784683"/>
              <a:ext cx="1992574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Log Files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293277" y="3603009"/>
            <a:ext cx="5884506" cy="1241946"/>
            <a:chOff x="4363802" y="1323833"/>
            <a:chExt cx="5884506" cy="1241946"/>
          </a:xfrm>
        </p:grpSpPr>
        <p:sp>
          <p:nvSpPr>
            <p:cNvPr id="10" name="Cube 9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99978" y="1866570"/>
              <a:ext cx="381222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 dirty="0" err="1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Tempdb</a:t>
              </a:r>
              <a:r>
                <a:rPr lang="en-US" sz="2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 Data Files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293277" y="4913194"/>
            <a:ext cx="5884506" cy="1241946"/>
            <a:chOff x="4363802" y="1323833"/>
            <a:chExt cx="5884506" cy="1241946"/>
          </a:xfrm>
        </p:grpSpPr>
        <p:sp>
          <p:nvSpPr>
            <p:cNvPr id="13" name="Cube 12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99978" y="1866570"/>
              <a:ext cx="381222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 dirty="0" err="1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Tempdb</a:t>
              </a:r>
              <a:r>
                <a:rPr lang="en-US" sz="2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 Log Files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293277" y="6237027"/>
            <a:ext cx="5884506" cy="1241946"/>
            <a:chOff x="4363802" y="1323833"/>
            <a:chExt cx="5884506" cy="1241946"/>
          </a:xfrm>
        </p:grpSpPr>
        <p:sp>
          <p:nvSpPr>
            <p:cNvPr id="16" name="Cube 15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86832" y="1784683"/>
              <a:ext cx="3812226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Backup Files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934260" y="1548870"/>
            <a:ext cx="3043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Random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60" y="2791293"/>
            <a:ext cx="3500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Sequential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4260" y="4187642"/>
            <a:ext cx="3043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Random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60" y="5430065"/>
            <a:ext cx="3500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Sequential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4260" y="6727079"/>
            <a:ext cx="3500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Sequential Access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0084232" y="916635"/>
            <a:ext cx="1544518" cy="1264469"/>
            <a:chOff x="4363802" y="1323833"/>
            <a:chExt cx="5884506" cy="1241946"/>
          </a:xfrm>
        </p:grpSpPr>
        <p:sp>
          <p:nvSpPr>
            <p:cNvPr id="24" name="Cube 23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259448" y="1888777"/>
              <a:ext cx="2608004" cy="348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.mdf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1476862" y="916635"/>
            <a:ext cx="1544518" cy="1264469"/>
            <a:chOff x="4363802" y="1323833"/>
            <a:chExt cx="5884506" cy="1241946"/>
          </a:xfrm>
        </p:grpSpPr>
        <p:sp>
          <p:nvSpPr>
            <p:cNvPr id="27" name="Cube 26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.ndf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2868518" y="919807"/>
            <a:ext cx="1544518" cy="1264469"/>
            <a:chOff x="4363802" y="1323833"/>
            <a:chExt cx="5884506" cy="1241946"/>
          </a:xfrm>
        </p:grpSpPr>
        <p:sp>
          <p:nvSpPr>
            <p:cNvPr id="30" name="Cube 29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.ndf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10071683" y="2240139"/>
            <a:ext cx="1544518" cy="1264469"/>
            <a:chOff x="4363802" y="1323833"/>
            <a:chExt cx="5884506" cy="1241946"/>
          </a:xfrm>
        </p:grpSpPr>
        <p:sp>
          <p:nvSpPr>
            <p:cNvPr id="33" name="Cube 32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.ldf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1464313" y="2240139"/>
            <a:ext cx="1544518" cy="1264469"/>
            <a:chOff x="4363802" y="1323833"/>
            <a:chExt cx="5884506" cy="1241946"/>
          </a:xfrm>
        </p:grpSpPr>
        <p:sp>
          <p:nvSpPr>
            <p:cNvPr id="36" name="Cube 35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.ldf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2855969" y="2243311"/>
            <a:ext cx="1544518" cy="1264469"/>
            <a:chOff x="4363802" y="1323833"/>
            <a:chExt cx="5884506" cy="1241946"/>
          </a:xfrm>
        </p:grpSpPr>
        <p:sp>
          <p:nvSpPr>
            <p:cNvPr id="39" name="Cube 38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.ldf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0031346" y="3566838"/>
            <a:ext cx="1544518" cy="1264469"/>
            <a:chOff x="4363802" y="1323833"/>
            <a:chExt cx="5884506" cy="1241946"/>
          </a:xfrm>
        </p:grpSpPr>
        <p:sp>
          <p:nvSpPr>
            <p:cNvPr id="42" name="Cube 41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259448" y="1888777"/>
              <a:ext cx="2608004" cy="348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.mdf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1423976" y="3566838"/>
            <a:ext cx="1544518" cy="1264469"/>
            <a:chOff x="4363802" y="1323833"/>
            <a:chExt cx="5884506" cy="1241946"/>
          </a:xfrm>
        </p:grpSpPr>
        <p:sp>
          <p:nvSpPr>
            <p:cNvPr id="45" name="Cube 44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.ndf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2815632" y="3570010"/>
            <a:ext cx="1544518" cy="1264469"/>
            <a:chOff x="4363802" y="1323833"/>
            <a:chExt cx="5884506" cy="1241946"/>
          </a:xfrm>
        </p:grpSpPr>
        <p:sp>
          <p:nvSpPr>
            <p:cNvPr id="48" name="Cube 47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.ndf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0071683" y="4890365"/>
            <a:ext cx="1544518" cy="1264469"/>
            <a:chOff x="4363802" y="1323833"/>
            <a:chExt cx="5884506" cy="1241946"/>
          </a:xfrm>
        </p:grpSpPr>
        <p:sp>
          <p:nvSpPr>
            <p:cNvPr id="51" name="Cube 50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.ldf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11464313" y="4890365"/>
            <a:ext cx="1544518" cy="1264469"/>
            <a:chOff x="4363802" y="1323833"/>
            <a:chExt cx="5884506" cy="1241946"/>
          </a:xfrm>
        </p:grpSpPr>
        <p:sp>
          <p:nvSpPr>
            <p:cNvPr id="54" name="Cube 53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.ldf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12855969" y="4893537"/>
            <a:ext cx="1544518" cy="1264469"/>
            <a:chOff x="4363802" y="1323833"/>
            <a:chExt cx="5884506" cy="1241946"/>
          </a:xfrm>
        </p:grpSpPr>
        <p:sp>
          <p:nvSpPr>
            <p:cNvPr id="57" name="Cube 56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.ldf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0031812" y="6189090"/>
            <a:ext cx="1544518" cy="1264469"/>
            <a:chOff x="4363802" y="1323833"/>
            <a:chExt cx="5884506" cy="1241946"/>
          </a:xfrm>
        </p:grpSpPr>
        <p:sp>
          <p:nvSpPr>
            <p:cNvPr id="60" name="Cube 59"/>
            <p:cNvSpPr/>
            <p:nvPr/>
          </p:nvSpPr>
          <p:spPr>
            <a:xfrm>
              <a:off x="4363802" y="1323833"/>
              <a:ext cx="5884506" cy="1241946"/>
            </a:xfrm>
            <a:prstGeom prst="cub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259448" y="1888777"/>
              <a:ext cx="2608004" cy="3627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8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.</a:t>
              </a:r>
              <a:r>
                <a:rPr lang="en-US" sz="1800" dirty="0" err="1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bak</a:t>
              </a:r>
              <a:endParaRPr lang="en-US" sz="1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961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 your disk layout or file distribution</a:t>
            </a:r>
          </a:p>
        </p:txBody>
      </p:sp>
      <p:pic>
        <p:nvPicPr>
          <p:cNvPr id="4" name="Graphic 16">
            <a:extLst>
              <a:ext uri="{FF2B5EF4-FFF2-40B4-BE49-F238E27FC236}">
                <a16:creationId xmlns:a16="http://schemas.microsoft.com/office/drawing/2014/main" id="{9215E007-57C0-7549-8C66-76C2A44C4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5024727" y="1609204"/>
            <a:ext cx="815009" cy="8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phic 16">
            <a:extLst>
              <a:ext uri="{FF2B5EF4-FFF2-40B4-BE49-F238E27FC236}">
                <a16:creationId xmlns:a16="http://schemas.microsoft.com/office/drawing/2014/main" id="{9215E007-57C0-7549-8C66-76C2A44C4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5052257" y="2540320"/>
            <a:ext cx="815009" cy="8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6">
            <a:extLst>
              <a:ext uri="{FF2B5EF4-FFF2-40B4-BE49-F238E27FC236}">
                <a16:creationId xmlns:a16="http://schemas.microsoft.com/office/drawing/2014/main" id="{9215E007-57C0-7549-8C66-76C2A44C4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5000042" y="3934066"/>
            <a:ext cx="815009" cy="8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926135" y="1854282"/>
            <a:ext cx="1733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GP3/IO2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726" y="2813936"/>
            <a:ext cx="1733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1600" dirty="0"/>
              <a:t>GP3/IO2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2929" y="4243546"/>
            <a:ext cx="1733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1600" dirty="0"/>
              <a:t>GP3/IO2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598" y="1499969"/>
            <a:ext cx="2848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EC2 Instance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005" y="3119298"/>
            <a:ext cx="3467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SQL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8956" y="1001831"/>
            <a:ext cx="19351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Amazon EBS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85706" y="990297"/>
            <a:ext cx="24577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File distribution </a:t>
            </a:r>
          </a:p>
        </p:txBody>
      </p:sp>
      <p:pic>
        <p:nvPicPr>
          <p:cNvPr id="23" name="Graphic 16">
            <a:extLst>
              <a:ext uri="{FF2B5EF4-FFF2-40B4-BE49-F238E27FC236}">
                <a16:creationId xmlns:a16="http://schemas.microsoft.com/office/drawing/2014/main" id="{9215E007-57C0-7549-8C66-76C2A44C4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5049050" y="6656904"/>
            <a:ext cx="815009" cy="8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5986051" y="6931115"/>
            <a:ext cx="1733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</a:lstStyle>
          <a:p>
            <a:r>
              <a:rPr lang="en-US" sz="1600" dirty="0"/>
              <a:t>ST1/SC1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0AB3E31-A079-534E-B8FC-087AF5EE9777}"/>
              </a:ext>
            </a:extLst>
          </p:cNvPr>
          <p:cNvSpPr/>
          <p:nvPr/>
        </p:nvSpPr>
        <p:spPr>
          <a:xfrm>
            <a:off x="4560877" y="1454172"/>
            <a:ext cx="7509412" cy="2149725"/>
          </a:xfrm>
          <a:prstGeom prst="round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52122B-C05D-8B4F-B69C-D7C0F4394526}"/>
              </a:ext>
            </a:extLst>
          </p:cNvPr>
          <p:cNvSpPr txBox="1"/>
          <p:nvPr/>
        </p:nvSpPr>
        <p:spPr>
          <a:xfrm>
            <a:off x="3206592" y="2205868"/>
            <a:ext cx="12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LU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Database File Group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AF103B-57E6-8F4C-A163-0C26D1DE4232}"/>
              </a:ext>
            </a:extLst>
          </p:cNvPr>
          <p:cNvGrpSpPr/>
          <p:nvPr/>
        </p:nvGrpSpPr>
        <p:grpSpPr>
          <a:xfrm>
            <a:off x="10291865" y="1609206"/>
            <a:ext cx="815009" cy="881682"/>
            <a:chOff x="2047084" y="4861663"/>
            <a:chExt cx="1021752" cy="1206515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257E965C-10EA-1143-B186-721790E38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5401" y="4861663"/>
              <a:ext cx="851270" cy="85127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6AC57EC-3A52-B343-9075-52AFEE36DD20}"/>
                </a:ext>
              </a:extLst>
            </p:cNvPr>
            <p:cNvSpPr txBox="1"/>
            <p:nvPr/>
          </p:nvSpPr>
          <p:spPr>
            <a:xfrm>
              <a:off x="2047084" y="5523414"/>
              <a:ext cx="1021752" cy="5447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mdf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E19223-67F9-5C4D-8F3A-EF9551479B0A}"/>
              </a:ext>
            </a:extLst>
          </p:cNvPr>
          <p:cNvGrpSpPr/>
          <p:nvPr/>
        </p:nvGrpSpPr>
        <p:grpSpPr>
          <a:xfrm>
            <a:off x="10310269" y="2596847"/>
            <a:ext cx="815009" cy="1058460"/>
            <a:chOff x="2036979" y="4861663"/>
            <a:chExt cx="1021752" cy="1448423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1774D080-3177-5C47-8C0F-320FD4F79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5401" y="4861663"/>
              <a:ext cx="851270" cy="85127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F0D80C-84FB-D747-886C-C75CF4BBB3ED}"/>
                </a:ext>
              </a:extLst>
            </p:cNvPr>
            <p:cNvSpPr txBox="1"/>
            <p:nvPr/>
          </p:nvSpPr>
          <p:spPr>
            <a:xfrm>
              <a:off x="2036979" y="5564616"/>
              <a:ext cx="1021752" cy="745470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n</a:t>
              </a:r>
              <a:r>
                <a:rPr lang="en-US" sz="18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df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A1E8315-AADF-5F46-81C8-4D8D8A615326}"/>
              </a:ext>
            </a:extLst>
          </p:cNvPr>
          <p:cNvGrpSpPr/>
          <p:nvPr/>
        </p:nvGrpSpPr>
        <p:grpSpPr>
          <a:xfrm>
            <a:off x="10375059" y="3900478"/>
            <a:ext cx="815009" cy="1085000"/>
            <a:chOff x="2070159" y="4861663"/>
            <a:chExt cx="1021752" cy="1484741"/>
          </a:xfrm>
        </p:grpSpPr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B1FB2ED6-4422-444C-A4D7-A46654497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5401" y="4861663"/>
              <a:ext cx="851270" cy="85127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DDBF834-2284-5349-91A7-0D54C8C4080E}"/>
                </a:ext>
              </a:extLst>
            </p:cNvPr>
            <p:cNvSpPr txBox="1"/>
            <p:nvPr/>
          </p:nvSpPr>
          <p:spPr>
            <a:xfrm>
              <a:off x="2070159" y="5600934"/>
              <a:ext cx="1021752" cy="745470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ldf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80C231-4974-7244-A87A-9CE38FBEE461}"/>
              </a:ext>
            </a:extLst>
          </p:cNvPr>
          <p:cNvGrpSpPr/>
          <p:nvPr/>
        </p:nvGrpSpPr>
        <p:grpSpPr>
          <a:xfrm>
            <a:off x="10422844" y="6518023"/>
            <a:ext cx="913973" cy="1049063"/>
            <a:chOff x="10274452" y="5693919"/>
            <a:chExt cx="913973" cy="1049063"/>
          </a:xfrm>
        </p:grpSpPr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29B2C543-917B-7645-8375-3B1AE539D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75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274452" y="5693919"/>
              <a:ext cx="913973" cy="91397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D52F7C-2559-A041-9614-AC670C9ABBEB}"/>
                </a:ext>
              </a:extLst>
            </p:cNvPr>
            <p:cNvSpPr txBox="1"/>
            <p:nvPr/>
          </p:nvSpPr>
          <p:spPr>
            <a:xfrm>
              <a:off x="10285322" y="6373650"/>
              <a:ext cx="892232" cy="369332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algn="l">
                <a:spcAft>
                  <a:spcPts val="1200"/>
                </a:spcAft>
              </a:pPr>
              <a:r>
                <a:rPr lang="en-GB" dirty="0"/>
                <a:t>b</a:t>
              </a:r>
              <a:r>
                <a:rPr lang="en-LU" dirty="0"/>
                <a:t>ak/trn</a:t>
              </a: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48648885-F487-5244-96FC-3C1337F3472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13"/>
          <a:stretch/>
        </p:blipFill>
        <p:spPr>
          <a:xfrm>
            <a:off x="671978" y="3823983"/>
            <a:ext cx="1192707" cy="11345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E913390-ACFD-BA4A-B78A-1B3905ED8AE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213"/>
          <a:stretch/>
        </p:blipFill>
        <p:spPr>
          <a:xfrm>
            <a:off x="1955713" y="3872934"/>
            <a:ext cx="1192707" cy="113451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9FEC882-74C1-4E46-A9C1-0584E9F940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4599" y="1878241"/>
            <a:ext cx="1247468" cy="12474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5D9DBC-2FE7-FF4E-BF80-368B3CE57C29}"/>
              </a:ext>
            </a:extLst>
          </p:cNvPr>
          <p:cNvSpPr txBox="1"/>
          <p:nvPr/>
        </p:nvSpPr>
        <p:spPr>
          <a:xfrm>
            <a:off x="770154" y="4878265"/>
            <a:ext cx="2559355" cy="3693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LU" dirty="0"/>
              <a:t>Instance Store Volumes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7A01C22-140D-774D-A330-56F74A5D986E}"/>
              </a:ext>
            </a:extLst>
          </p:cNvPr>
          <p:cNvSpPr/>
          <p:nvPr/>
        </p:nvSpPr>
        <p:spPr>
          <a:xfrm>
            <a:off x="4557671" y="3716573"/>
            <a:ext cx="7509412" cy="1229663"/>
          </a:xfrm>
          <a:prstGeom prst="round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942BD-B046-3B4C-86F0-4C849689E7A6}"/>
              </a:ext>
            </a:extLst>
          </p:cNvPr>
          <p:cNvSpPr txBox="1"/>
          <p:nvPr/>
        </p:nvSpPr>
        <p:spPr>
          <a:xfrm>
            <a:off x="12561669" y="2412181"/>
            <a:ext cx="1602362" cy="3693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LU" dirty="0"/>
              <a:t>SQL Data 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99F686-EC95-E942-836F-A2EBE748FCE7}"/>
              </a:ext>
            </a:extLst>
          </p:cNvPr>
          <p:cNvSpPr txBox="1"/>
          <p:nvPr/>
        </p:nvSpPr>
        <p:spPr>
          <a:xfrm>
            <a:off x="12564208" y="4114800"/>
            <a:ext cx="1605568" cy="3693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LU" dirty="0"/>
              <a:t>Tran. Log Files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7ABB26D-FA7A-604C-8263-6677393B9A90}"/>
              </a:ext>
            </a:extLst>
          </p:cNvPr>
          <p:cNvSpPr/>
          <p:nvPr/>
        </p:nvSpPr>
        <p:spPr>
          <a:xfrm>
            <a:off x="4557671" y="6408704"/>
            <a:ext cx="7509412" cy="1229662"/>
          </a:xfrm>
          <a:prstGeom prst="round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3F884C-4AAD-FF4F-A341-FC2E42824FC8}"/>
              </a:ext>
            </a:extLst>
          </p:cNvPr>
          <p:cNvSpPr txBox="1"/>
          <p:nvPr/>
        </p:nvSpPr>
        <p:spPr>
          <a:xfrm>
            <a:off x="12558462" y="6798427"/>
            <a:ext cx="1379545" cy="3693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LU" dirty="0"/>
              <a:t>Backup Files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101B8EF-BB89-744A-9CCA-F6D9A057F222}"/>
              </a:ext>
            </a:extLst>
          </p:cNvPr>
          <p:cNvSpPr/>
          <p:nvPr/>
        </p:nvSpPr>
        <p:spPr>
          <a:xfrm>
            <a:off x="4557671" y="5065643"/>
            <a:ext cx="7509412" cy="1229663"/>
          </a:xfrm>
          <a:prstGeom prst="round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82947-50D8-0F4B-8C20-C190B1151A58}"/>
              </a:ext>
            </a:extLst>
          </p:cNvPr>
          <p:cNvSpPr txBox="1"/>
          <p:nvPr/>
        </p:nvSpPr>
        <p:spPr>
          <a:xfrm>
            <a:off x="12558462" y="5354753"/>
            <a:ext cx="1602363" cy="64633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LU" dirty="0"/>
              <a:t>TempDB Data/Log Files</a:t>
            </a:r>
          </a:p>
        </p:txBody>
      </p:sp>
      <p:sp>
        <p:nvSpPr>
          <p:cNvPr id="20" name="Bent Up Arrow 19">
            <a:extLst>
              <a:ext uri="{FF2B5EF4-FFF2-40B4-BE49-F238E27FC236}">
                <a16:creationId xmlns:a16="http://schemas.microsoft.com/office/drawing/2014/main" id="{4386D113-77E6-DD46-B9A0-F4A07164C57A}"/>
              </a:ext>
            </a:extLst>
          </p:cNvPr>
          <p:cNvSpPr/>
          <p:nvPr/>
        </p:nvSpPr>
        <p:spPr>
          <a:xfrm rot="5400000">
            <a:off x="2820456" y="4379432"/>
            <a:ext cx="547932" cy="2475474"/>
          </a:xfrm>
          <a:prstGeom prst="bentUp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LU" dirty="0" err="1">
              <a:solidFill>
                <a:schemeClr val="tx1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6FF6517-9EC0-5E49-BDA5-2359E539C2A9}"/>
              </a:ext>
            </a:extLst>
          </p:cNvPr>
          <p:cNvGrpSpPr/>
          <p:nvPr/>
        </p:nvGrpSpPr>
        <p:grpSpPr>
          <a:xfrm>
            <a:off x="7978969" y="5263272"/>
            <a:ext cx="815009" cy="881682"/>
            <a:chOff x="2047084" y="4861663"/>
            <a:chExt cx="1021752" cy="1206515"/>
          </a:xfrm>
        </p:grpSpPr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57F8FB86-E5DB-2343-9967-01614A429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5401" y="4861663"/>
              <a:ext cx="851270" cy="85127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62CD020-0B86-6548-9BAD-02A9E1F7BA5D}"/>
                </a:ext>
              </a:extLst>
            </p:cNvPr>
            <p:cNvSpPr txBox="1"/>
            <p:nvPr/>
          </p:nvSpPr>
          <p:spPr>
            <a:xfrm>
              <a:off x="2047084" y="5523414"/>
              <a:ext cx="1021752" cy="5447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mdf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7722695-1749-2044-93FA-81AD6ADB97C0}"/>
              </a:ext>
            </a:extLst>
          </p:cNvPr>
          <p:cNvGrpSpPr/>
          <p:nvPr/>
        </p:nvGrpSpPr>
        <p:grpSpPr>
          <a:xfrm>
            <a:off x="10404729" y="5252424"/>
            <a:ext cx="815009" cy="1085000"/>
            <a:chOff x="2070159" y="4861663"/>
            <a:chExt cx="1021752" cy="1484741"/>
          </a:xfrm>
        </p:grpSpPr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0ACD10CA-E556-5D47-8B6A-360279AF5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5401" y="4861663"/>
              <a:ext cx="851270" cy="85127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FFA8EE9-CADE-CC4F-865F-0D9F09EA6778}"/>
                </a:ext>
              </a:extLst>
            </p:cNvPr>
            <p:cNvSpPr txBox="1"/>
            <p:nvPr/>
          </p:nvSpPr>
          <p:spPr>
            <a:xfrm>
              <a:off x="2070159" y="5600934"/>
              <a:ext cx="1021752" cy="745470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sz="18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ldf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89F064E-778F-894B-9DC7-702AB45FB084}"/>
              </a:ext>
            </a:extLst>
          </p:cNvPr>
          <p:cNvGrpSpPr/>
          <p:nvPr/>
        </p:nvGrpSpPr>
        <p:grpSpPr>
          <a:xfrm>
            <a:off x="9235479" y="5257905"/>
            <a:ext cx="815009" cy="1058460"/>
            <a:chOff x="2036979" y="4861663"/>
            <a:chExt cx="1021752" cy="1448423"/>
          </a:xfrm>
        </p:grpSpPr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BFA3FA72-B7A0-9F46-95AE-4960C6C03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5401" y="4861663"/>
              <a:ext cx="851270" cy="85127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071D0CD-99F4-F84E-9A89-6DF479A146E0}"/>
                </a:ext>
              </a:extLst>
            </p:cNvPr>
            <p:cNvSpPr txBox="1"/>
            <p:nvPr/>
          </p:nvSpPr>
          <p:spPr>
            <a:xfrm>
              <a:off x="2036979" y="5564616"/>
              <a:ext cx="1021752" cy="745470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1800"/>
                </a:spcAft>
              </a:pPr>
              <a:r>
                <a:rPr lang="en-US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n</a:t>
              </a:r>
              <a:r>
                <a:rPr lang="en-US" sz="18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4605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3CA4A-E87A-434D-9BEF-102EAE91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Availability Best Practices for SQL Server on EC2</a:t>
            </a:r>
          </a:p>
        </p:txBody>
      </p:sp>
    </p:spTree>
    <p:extLst>
      <p:ext uri="{BB962C8B-B14F-4D97-AF65-F5344CB8AC3E}">
        <p14:creationId xmlns:p14="http://schemas.microsoft.com/office/powerpoint/2010/main" val="2694870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208" y="684377"/>
            <a:ext cx="13167360" cy="731521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SQL Server HA/DR on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88515" y="1653893"/>
            <a:ext cx="13125450" cy="5684837"/>
          </a:xfrm>
        </p:spPr>
        <p:txBody>
          <a:bodyPr vert="horz" lIns="146304" tIns="73152" rIns="146304" bIns="73152" rtlCol="0">
            <a:no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sz="2400" dirty="0"/>
              <a:t>Windows clusters can span Availability Zones or regions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sz="2400" dirty="0"/>
              <a:t>Mirroring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sz="2400" dirty="0"/>
              <a:t>AlwaysOn Availability Groups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sz="2400" dirty="0"/>
              <a:t>Transaction Log Shipping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US" sz="2400" dirty="0"/>
              <a:t>SQL Failover Cluster Instance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6A9F42-5E4C-CB40-878D-8BFAA465C1F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5318" y="5717150"/>
            <a:ext cx="647247" cy="64724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A80D3D2-A719-604B-983E-A443916DD9E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6815317" y="4943325"/>
            <a:ext cx="666098" cy="64724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D153894-36EB-5040-B4C3-BB50FEEDABA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0185" y="5717150"/>
            <a:ext cx="647247" cy="64724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B9905CA-2971-AA40-8951-240332AFCF7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17745" y="4118720"/>
            <a:ext cx="647247" cy="64724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C7FB00-F1FA-8E4D-BB94-A63C39C4FDF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67082" y="4118720"/>
            <a:ext cx="647247" cy="64724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F1BD889-7F4D-1C47-86B0-30581E365CB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16420" y="4118720"/>
            <a:ext cx="647247" cy="64724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78FD9C-52A1-714D-AFF6-32887F3C1E59}"/>
              </a:ext>
            </a:extLst>
          </p:cNvPr>
          <p:cNvCxnSpPr>
            <a:cxnSpLocks/>
          </p:cNvCxnSpPr>
          <p:nvPr/>
        </p:nvCxnSpPr>
        <p:spPr>
          <a:xfrm>
            <a:off x="10505318" y="4882133"/>
            <a:ext cx="647247" cy="708439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3DE364-0F52-204F-8FDF-C81439C598FD}"/>
              </a:ext>
            </a:extLst>
          </p:cNvPr>
          <p:cNvCxnSpPr>
            <a:cxnSpLocks/>
          </p:cNvCxnSpPr>
          <p:nvPr/>
        </p:nvCxnSpPr>
        <p:spPr>
          <a:xfrm flipH="1">
            <a:off x="11297304" y="4861222"/>
            <a:ext cx="515314" cy="750061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F34969-03B6-6240-A15D-5CE817B604B9}"/>
              </a:ext>
            </a:extLst>
          </p:cNvPr>
          <p:cNvCxnSpPr/>
          <p:nvPr/>
        </p:nvCxnSpPr>
        <p:spPr>
          <a:xfrm>
            <a:off x="11210440" y="4861222"/>
            <a:ext cx="0" cy="729350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8E853-E7D3-1143-9C7B-EB5F3C85BBFA}"/>
              </a:ext>
            </a:extLst>
          </p:cNvPr>
          <p:cNvSpPr/>
          <p:nvPr/>
        </p:nvSpPr>
        <p:spPr>
          <a:xfrm>
            <a:off x="9661497" y="3949717"/>
            <a:ext cx="3093805" cy="2625990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chemeClr val="accent1"/>
              </a:solidFill>
            </a:endParaRPr>
          </a:p>
          <a:p>
            <a:pPr algn="ctr"/>
            <a:endParaRPr lang="en-US" sz="1200" dirty="0">
              <a:solidFill>
                <a:schemeClr val="accent1"/>
              </a:solidFill>
            </a:endParaRPr>
          </a:p>
          <a:p>
            <a:pPr algn="ctr"/>
            <a:endParaRPr lang="en-US" sz="12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Migrate an on-premises Microsoft SQL Server database to Amazon EC2 - AWS  Prescriptive Guidance">
            <a:extLst>
              <a:ext uri="{FF2B5EF4-FFF2-40B4-BE49-F238E27FC236}">
                <a16:creationId xmlns:a16="http://schemas.microsoft.com/office/drawing/2014/main" id="{FE65691D-8CA3-DA42-9607-BE9F9089E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826" y="3696458"/>
            <a:ext cx="5509518" cy="3328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5273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F99214A-1A14-5B48-B95E-1103D51AB1E0}"/>
              </a:ext>
            </a:extLst>
          </p:cNvPr>
          <p:cNvSpPr/>
          <p:nvPr/>
        </p:nvSpPr>
        <p:spPr>
          <a:xfrm>
            <a:off x="9296489" y="3045072"/>
            <a:ext cx="3835190" cy="1143000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2857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On AG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C12CB98C-CC77-4AAE-BDF5-399B01DD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4" y="540372"/>
            <a:ext cx="14620445" cy="824566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4400" b="1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Multi-AZ Always On Availability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94" y="4431359"/>
            <a:ext cx="58249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SQL Server: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Database-level HA solution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Manual adding logins, SQL Agent jobs, certificates and other SQL Server instance level objects to all secondary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Data/Transactions replicated through SQL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E8408-9FC9-4B37-BE98-A62043937591}"/>
              </a:ext>
            </a:extLst>
          </p:cNvPr>
          <p:cNvSpPr txBox="1"/>
          <p:nvPr/>
        </p:nvSpPr>
        <p:spPr>
          <a:xfrm>
            <a:off x="81204" y="1364938"/>
            <a:ext cx="5651500" cy="301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Infrastructure: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Shared-nothing configuration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Storage configured and managed outside of WSFC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Flexibility and granularity of storage configuration and maintenance</a:t>
            </a:r>
          </a:p>
          <a:p>
            <a:pPr marL="107442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Limited SQL resources managed by WSFC</a:t>
            </a:r>
          </a:p>
          <a:p>
            <a:pPr marL="1188720" lvl="1" indent="-457200">
              <a:buFont typeface="Arial" panose="020B0604020202020204" pitchFamily="34" charset="0"/>
              <a:buChar char="•"/>
            </a:pPr>
            <a:endParaRPr lang="en-US" sz="256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84CB2-3636-3247-BF16-7F5D8F01E041}"/>
              </a:ext>
            </a:extLst>
          </p:cNvPr>
          <p:cNvSpPr/>
          <p:nvPr/>
        </p:nvSpPr>
        <p:spPr>
          <a:xfrm>
            <a:off x="6021989" y="1504242"/>
            <a:ext cx="8193576" cy="59229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7" name="Graphic 61">
            <a:extLst>
              <a:ext uri="{FF2B5EF4-FFF2-40B4-BE49-F238E27FC236}">
                <a16:creationId xmlns:a16="http://schemas.microsoft.com/office/drawing/2014/main" id="{2E7BD715-16E7-3746-B184-5D905EBA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6007" y="1515872"/>
            <a:ext cx="400579" cy="4005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941177-3BD0-4145-84CF-A371FB18B388}"/>
              </a:ext>
            </a:extLst>
          </p:cNvPr>
          <p:cNvSpPr/>
          <p:nvPr/>
        </p:nvSpPr>
        <p:spPr>
          <a:xfrm>
            <a:off x="6426585" y="2003671"/>
            <a:ext cx="7353679" cy="5120725"/>
          </a:xfrm>
          <a:prstGeom prst="rect">
            <a:avLst/>
          </a:prstGeom>
          <a:noFill/>
          <a:ln w="12700">
            <a:solidFill>
              <a:srgbClr val="69AE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69AE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9" name="Graphic 106">
            <a:extLst>
              <a:ext uri="{FF2B5EF4-FFF2-40B4-BE49-F238E27FC236}">
                <a16:creationId xmlns:a16="http://schemas.microsoft.com/office/drawing/2014/main" id="{B2E7B569-11C7-1D4B-BBDA-9085F5BFA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586" y="2006808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6939189" y="2711597"/>
            <a:ext cx="1765300" cy="1766289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1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189" y="2711598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9189281" y="2719314"/>
            <a:ext cx="1765300" cy="1793366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3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9281" y="2719315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11461286" y="2719314"/>
            <a:ext cx="1765300" cy="1758573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5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1286" y="2719315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6756785" y="2328808"/>
            <a:ext cx="2155306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9018787" y="2304462"/>
            <a:ext cx="2113528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11240351" y="2337008"/>
            <a:ext cx="2113528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C</a:t>
            </a:r>
          </a:p>
        </p:txBody>
      </p:sp>
      <p:pic>
        <p:nvPicPr>
          <p:cNvPr id="24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8918" y="3146672"/>
            <a:ext cx="469900" cy="469900"/>
          </a:xfrm>
          <a:prstGeom prst="rect">
            <a:avLst/>
          </a:prstGeom>
        </p:spPr>
      </p:pic>
      <p:pic>
        <p:nvPicPr>
          <p:cNvPr id="26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8474" y="3146672"/>
            <a:ext cx="469900" cy="469900"/>
          </a:xfrm>
          <a:prstGeom prst="rect">
            <a:avLst/>
          </a:prstGeom>
        </p:spPr>
      </p:pic>
      <p:pic>
        <p:nvPicPr>
          <p:cNvPr id="27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02602" y="3139393"/>
            <a:ext cx="469900" cy="469900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6939188" y="4780677"/>
            <a:ext cx="1765300" cy="1748295"/>
            <a:chOff x="6821760" y="4354792"/>
            <a:chExt cx="1765300" cy="174829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EC2884-EB12-9B44-BFB2-EAE24D99FFCA}"/>
                </a:ext>
              </a:extLst>
            </p:cNvPr>
            <p:cNvSpPr/>
            <p:nvPr/>
          </p:nvSpPr>
          <p:spPr>
            <a:xfrm>
              <a:off x="6821760" y="4354792"/>
              <a:ext cx="1765300" cy="1748295"/>
            </a:xfrm>
            <a:prstGeom prst="rect">
              <a:avLst/>
            </a:prstGeom>
            <a:solidFill>
              <a:srgbClr val="C1F3FF">
                <a:alpha val="14902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832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00A0C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20" name="Graphic 99">
              <a:extLst>
                <a:ext uri="{FF2B5EF4-FFF2-40B4-BE49-F238E27FC236}">
                  <a16:creationId xmlns:a16="http://schemas.microsoft.com/office/drawing/2014/main" id="{DCF84520-EDCC-8241-84B0-79CF1F2E1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1760" y="4354793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Graphic 58">
              <a:extLst>
                <a:ext uri="{FF2B5EF4-FFF2-40B4-BE49-F238E27FC236}">
                  <a16:creationId xmlns:a16="http://schemas.microsoft.com/office/drawing/2014/main" id="{DEA1DA0D-A07C-E441-9D9B-EF47B889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08188" y="4893909"/>
              <a:ext cx="469900" cy="469900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7003024" y="4847600"/>
              <a:ext cx="85004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Active Directory DC1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9213789" y="4780678"/>
            <a:ext cx="1765300" cy="1748294"/>
            <a:chOff x="9096361" y="4354793"/>
            <a:chExt cx="1765300" cy="17482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EC2884-EB12-9B44-BFB2-EAE24D99FFCA}"/>
                </a:ext>
              </a:extLst>
            </p:cNvPr>
            <p:cNvSpPr/>
            <p:nvPr/>
          </p:nvSpPr>
          <p:spPr>
            <a:xfrm>
              <a:off x="9096361" y="4354793"/>
              <a:ext cx="1765300" cy="1748294"/>
            </a:xfrm>
            <a:prstGeom prst="rect">
              <a:avLst/>
            </a:prstGeom>
            <a:solidFill>
              <a:srgbClr val="C1F3FF">
                <a:alpha val="14902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832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00A0C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18" name="Graphic 99">
              <a:extLst>
                <a:ext uri="{FF2B5EF4-FFF2-40B4-BE49-F238E27FC236}">
                  <a16:creationId xmlns:a16="http://schemas.microsoft.com/office/drawing/2014/main" id="{DCF84520-EDCC-8241-84B0-79CF1F2E1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96361" y="4354793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Graphic 58">
              <a:extLst>
                <a:ext uri="{FF2B5EF4-FFF2-40B4-BE49-F238E27FC236}">
                  <a16:creationId xmlns:a16="http://schemas.microsoft.com/office/drawing/2014/main" id="{DEA1DA0D-A07C-E441-9D9B-EF47B889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70141" y="4943549"/>
              <a:ext cx="469900" cy="46990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9259171" y="4887642"/>
              <a:ext cx="85004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Active Directory DC2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995074" y="3168283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File Share Witness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7210" y="3551525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  <a:r>
              <a:rPr lang="en-US" sz="1100" baseline="30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</a:t>
            </a:r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SQL Replica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56615" y="3563000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  <a:r>
              <a:rPr lang="en-US" sz="1100" baseline="30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nd</a:t>
            </a:r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SQL Replica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0696823" y="3551525"/>
            <a:ext cx="11597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06238" y="3568718"/>
            <a:ext cx="1294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Sync Mode Auto Failover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8507892" y="3551525"/>
            <a:ext cx="11597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157932" y="4216276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10.0.10.0/24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3988" y="4238982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10.0.20.0/24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90176" y="4238982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10.0.30.0/24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81884" y="6235652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10.0.40.0/24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5489" y="6256531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10.0.50.0/24</a:t>
            </a:r>
          </a:p>
        </p:txBody>
      </p:sp>
    </p:spTree>
    <p:extLst>
      <p:ext uri="{BB962C8B-B14F-4D97-AF65-F5344CB8AC3E}">
        <p14:creationId xmlns:p14="http://schemas.microsoft.com/office/powerpoint/2010/main" val="224077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F99214A-1A14-5B48-B95E-1103D51AB1E0}"/>
              </a:ext>
            </a:extLst>
          </p:cNvPr>
          <p:cNvSpPr/>
          <p:nvPr/>
        </p:nvSpPr>
        <p:spPr>
          <a:xfrm>
            <a:off x="9163398" y="2780426"/>
            <a:ext cx="3835190" cy="1143000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2857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On AG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C12CB98C-CC77-4AAE-BDF5-399B01DD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66" y="415030"/>
            <a:ext cx="14620445" cy="824566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4400" b="1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Multi-AZ Always On Availability Group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E8408-9FC9-4B37-BE98-A62043937591}"/>
              </a:ext>
            </a:extLst>
          </p:cNvPr>
          <p:cNvSpPr txBox="1"/>
          <p:nvPr/>
        </p:nvSpPr>
        <p:spPr>
          <a:xfrm>
            <a:off x="237398" y="1451399"/>
            <a:ext cx="5651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Best Practices:</a:t>
            </a:r>
          </a:p>
          <a:p>
            <a:pPr marL="118872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Multi AZ setup</a:t>
            </a:r>
          </a:p>
          <a:p>
            <a:pPr marL="118872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Use File Share Witness</a:t>
            </a:r>
          </a:p>
          <a:p>
            <a:pPr marL="118872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MultiSubnetFailover</a:t>
            </a:r>
            <a:r>
              <a:rPr lang="en-US" sz="2400" dirty="0"/>
              <a:t> = Yes</a:t>
            </a:r>
          </a:p>
          <a:p>
            <a:pPr marL="118872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Connect to Listener</a:t>
            </a:r>
          </a:p>
          <a:p>
            <a:pPr marL="118872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RegisterAllProvidersIP</a:t>
            </a:r>
            <a:r>
              <a:rPr lang="en-US" sz="2400" dirty="0"/>
              <a:t> = Yes</a:t>
            </a:r>
          </a:p>
          <a:p>
            <a:pPr marL="118872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Change default </a:t>
            </a:r>
            <a:r>
              <a:rPr lang="en-US" sz="2400" dirty="0" err="1"/>
              <a:t>HostRecordTTL</a:t>
            </a:r>
            <a:endParaRPr lang="en-US" sz="2400" dirty="0"/>
          </a:p>
          <a:p>
            <a:pPr marL="118872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SQL Native Client Providers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84CB2-3636-3247-BF16-7F5D8F01E041}"/>
              </a:ext>
            </a:extLst>
          </p:cNvPr>
          <p:cNvSpPr/>
          <p:nvPr/>
        </p:nvSpPr>
        <p:spPr>
          <a:xfrm>
            <a:off x="5888898" y="1239596"/>
            <a:ext cx="8193576" cy="59229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n-US" sz="1200" dirty="0">
                <a:solidFill>
                  <a:srgbClr val="FAFA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</a:p>
        </p:txBody>
      </p:sp>
      <p:pic>
        <p:nvPicPr>
          <p:cNvPr id="7" name="Graphic 61">
            <a:extLst>
              <a:ext uri="{FF2B5EF4-FFF2-40B4-BE49-F238E27FC236}">
                <a16:creationId xmlns:a16="http://schemas.microsoft.com/office/drawing/2014/main" id="{2E7BD715-16E7-3746-B184-5D905EBA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441" y="1251109"/>
            <a:ext cx="400579" cy="4005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941177-3BD0-4145-84CF-A371FB18B388}"/>
              </a:ext>
            </a:extLst>
          </p:cNvPr>
          <p:cNvSpPr/>
          <p:nvPr/>
        </p:nvSpPr>
        <p:spPr>
          <a:xfrm>
            <a:off x="6293494" y="1739025"/>
            <a:ext cx="7353679" cy="5120725"/>
          </a:xfrm>
          <a:prstGeom prst="rect">
            <a:avLst/>
          </a:prstGeom>
          <a:noFill/>
          <a:ln w="12700">
            <a:solidFill>
              <a:srgbClr val="69AE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69AE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9" name="Graphic 106">
            <a:extLst>
              <a:ext uri="{FF2B5EF4-FFF2-40B4-BE49-F238E27FC236}">
                <a16:creationId xmlns:a16="http://schemas.microsoft.com/office/drawing/2014/main" id="{B2E7B569-11C7-1D4B-BBDA-9085F5BFA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495" y="1742162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6806098" y="2446951"/>
            <a:ext cx="1765300" cy="1766289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1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098" y="2446952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9056190" y="2454668"/>
            <a:ext cx="1765300" cy="1793366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3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190" y="2454669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11328195" y="2454668"/>
            <a:ext cx="1765300" cy="1758573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5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8195" y="2454669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6623694" y="2064162"/>
            <a:ext cx="2155306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8885696" y="2039816"/>
            <a:ext cx="2113528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11147697" y="2039816"/>
            <a:ext cx="2113528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C</a:t>
            </a:r>
          </a:p>
        </p:txBody>
      </p:sp>
      <p:pic>
        <p:nvPicPr>
          <p:cNvPr id="24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5827" y="2882026"/>
            <a:ext cx="469900" cy="469900"/>
          </a:xfrm>
          <a:prstGeom prst="rect">
            <a:avLst/>
          </a:prstGeom>
        </p:spPr>
      </p:pic>
      <p:pic>
        <p:nvPicPr>
          <p:cNvPr id="26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35383" y="2882026"/>
            <a:ext cx="469900" cy="469900"/>
          </a:xfrm>
          <a:prstGeom prst="rect">
            <a:avLst/>
          </a:prstGeom>
        </p:spPr>
      </p:pic>
      <p:pic>
        <p:nvPicPr>
          <p:cNvPr id="27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69511" y="2874747"/>
            <a:ext cx="469900" cy="469900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6806097" y="4516031"/>
            <a:ext cx="1765300" cy="1748295"/>
            <a:chOff x="6821760" y="4354792"/>
            <a:chExt cx="1765300" cy="174829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EC2884-EB12-9B44-BFB2-EAE24D99FFCA}"/>
                </a:ext>
              </a:extLst>
            </p:cNvPr>
            <p:cNvSpPr/>
            <p:nvPr/>
          </p:nvSpPr>
          <p:spPr>
            <a:xfrm>
              <a:off x="6821760" y="4354792"/>
              <a:ext cx="1765300" cy="1748295"/>
            </a:xfrm>
            <a:prstGeom prst="rect">
              <a:avLst/>
            </a:prstGeom>
            <a:solidFill>
              <a:srgbClr val="C1F3FF">
                <a:alpha val="14902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832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00A0C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20" name="Graphic 99">
              <a:extLst>
                <a:ext uri="{FF2B5EF4-FFF2-40B4-BE49-F238E27FC236}">
                  <a16:creationId xmlns:a16="http://schemas.microsoft.com/office/drawing/2014/main" id="{DCF84520-EDCC-8241-84B0-79CF1F2E1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1760" y="4354793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Graphic 58">
              <a:extLst>
                <a:ext uri="{FF2B5EF4-FFF2-40B4-BE49-F238E27FC236}">
                  <a16:creationId xmlns:a16="http://schemas.microsoft.com/office/drawing/2014/main" id="{DEA1DA0D-A07C-E441-9D9B-EF47B889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08188" y="4893909"/>
              <a:ext cx="469900" cy="469900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7003024" y="4847600"/>
              <a:ext cx="85004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Active Directory DC1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9080698" y="4516032"/>
            <a:ext cx="1765300" cy="1748294"/>
            <a:chOff x="9096361" y="4354793"/>
            <a:chExt cx="1765300" cy="17482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EC2884-EB12-9B44-BFB2-EAE24D99FFCA}"/>
                </a:ext>
              </a:extLst>
            </p:cNvPr>
            <p:cNvSpPr/>
            <p:nvPr/>
          </p:nvSpPr>
          <p:spPr>
            <a:xfrm>
              <a:off x="9096361" y="4354793"/>
              <a:ext cx="1765300" cy="1748294"/>
            </a:xfrm>
            <a:prstGeom prst="rect">
              <a:avLst/>
            </a:prstGeom>
            <a:solidFill>
              <a:srgbClr val="C1F3FF">
                <a:alpha val="14902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832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00A0C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18" name="Graphic 99">
              <a:extLst>
                <a:ext uri="{FF2B5EF4-FFF2-40B4-BE49-F238E27FC236}">
                  <a16:creationId xmlns:a16="http://schemas.microsoft.com/office/drawing/2014/main" id="{DCF84520-EDCC-8241-84B0-79CF1F2E1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96361" y="4354793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Graphic 58">
              <a:extLst>
                <a:ext uri="{FF2B5EF4-FFF2-40B4-BE49-F238E27FC236}">
                  <a16:creationId xmlns:a16="http://schemas.microsoft.com/office/drawing/2014/main" id="{DEA1DA0D-A07C-E441-9D9B-EF47B889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70141" y="4943549"/>
              <a:ext cx="469900" cy="46990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9259171" y="4887642"/>
              <a:ext cx="85004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Active Directory DC2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861983" y="2903637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File Share Witness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119" y="3286879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  <a:r>
              <a:rPr lang="en-US" sz="1100" baseline="30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</a:t>
            </a:r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SQL Replica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23524" y="3298354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  <a:r>
              <a:rPr lang="en-US" sz="1100" baseline="30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nd</a:t>
            </a:r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SQL Replica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0563732" y="3286879"/>
            <a:ext cx="11597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39714" y="3328021"/>
            <a:ext cx="1207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Sync Mode Auto Failover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8374801" y="3286879"/>
            <a:ext cx="11597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24841" y="3951630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10.0.10.0/24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0897" y="3974336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10.0.20.0/24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57085" y="3974336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10.0.30.0/24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8793" y="5971006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10.0.40.0/24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2398" y="5991885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10.0.50.0/24</a:t>
            </a:r>
          </a:p>
        </p:txBody>
      </p:sp>
    </p:spTree>
    <p:extLst>
      <p:ext uri="{BB962C8B-B14F-4D97-AF65-F5344CB8AC3E}">
        <p14:creationId xmlns:p14="http://schemas.microsoft.com/office/powerpoint/2010/main" val="3746997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5F99214A-1A14-5B48-B95E-1103D51AB1E0}"/>
              </a:ext>
            </a:extLst>
          </p:cNvPr>
          <p:cNvSpPr/>
          <p:nvPr/>
        </p:nvSpPr>
        <p:spPr>
          <a:xfrm>
            <a:off x="4013503" y="2731482"/>
            <a:ext cx="9128418" cy="1143000"/>
          </a:xfrm>
          <a:prstGeom prst="rect">
            <a:avLst/>
          </a:prstGeom>
          <a:solidFill>
            <a:schemeClr val="accent3">
              <a:lumMod val="60000"/>
              <a:lumOff val="40000"/>
              <a:alpha val="80000"/>
            </a:schemeClr>
          </a:solidFill>
          <a:ln w="2857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On AG</a:t>
            </a: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C12CB98C-CC77-4AAE-BDF5-399B01DD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52" y="441388"/>
            <a:ext cx="14620445" cy="824566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4400" b="1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Multi-Region Always On Availability Group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84CB2-3636-3247-BF16-7F5D8F01E041}"/>
              </a:ext>
            </a:extLst>
          </p:cNvPr>
          <p:cNvSpPr/>
          <p:nvPr/>
        </p:nvSpPr>
        <p:spPr>
          <a:xfrm>
            <a:off x="739003" y="1190652"/>
            <a:ext cx="8193576" cy="59229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7" name="Graphic 61">
            <a:extLst>
              <a:ext uri="{FF2B5EF4-FFF2-40B4-BE49-F238E27FC236}">
                <a16:creationId xmlns:a16="http://schemas.microsoft.com/office/drawing/2014/main" id="{2E7BD715-16E7-3746-B184-5D905EBA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547" y="1202282"/>
            <a:ext cx="400579" cy="4005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941177-3BD0-4145-84CF-A371FB18B388}"/>
              </a:ext>
            </a:extLst>
          </p:cNvPr>
          <p:cNvSpPr/>
          <p:nvPr/>
        </p:nvSpPr>
        <p:spPr>
          <a:xfrm>
            <a:off x="1143599" y="1690081"/>
            <a:ext cx="7353679" cy="5120725"/>
          </a:xfrm>
          <a:prstGeom prst="rect">
            <a:avLst/>
          </a:prstGeom>
          <a:noFill/>
          <a:ln w="12700">
            <a:solidFill>
              <a:srgbClr val="69AE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69AE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9" name="Graphic 106">
            <a:extLst>
              <a:ext uri="{FF2B5EF4-FFF2-40B4-BE49-F238E27FC236}">
                <a16:creationId xmlns:a16="http://schemas.microsoft.com/office/drawing/2014/main" id="{B2E7B569-11C7-1D4B-BBDA-9085F5BFA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00" y="1693218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1656203" y="2398007"/>
            <a:ext cx="1765300" cy="1766289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1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203" y="2398008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3906295" y="2405724"/>
            <a:ext cx="1765300" cy="1793366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3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295" y="2405725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6178300" y="2405724"/>
            <a:ext cx="1765300" cy="1758573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5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300" y="2405725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1473799" y="2015218"/>
            <a:ext cx="2155306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3735801" y="1990872"/>
            <a:ext cx="2113528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5997802" y="1990872"/>
            <a:ext cx="2113528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C</a:t>
            </a:r>
          </a:p>
        </p:txBody>
      </p:sp>
      <p:pic>
        <p:nvPicPr>
          <p:cNvPr id="24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45932" y="2833082"/>
            <a:ext cx="469900" cy="469900"/>
          </a:xfrm>
          <a:prstGeom prst="rect">
            <a:avLst/>
          </a:prstGeom>
        </p:spPr>
      </p:pic>
      <p:pic>
        <p:nvPicPr>
          <p:cNvPr id="26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5488" y="2833082"/>
            <a:ext cx="469900" cy="469900"/>
          </a:xfrm>
          <a:prstGeom prst="rect">
            <a:avLst/>
          </a:prstGeom>
        </p:spPr>
      </p:pic>
      <p:pic>
        <p:nvPicPr>
          <p:cNvPr id="27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19616" y="2825803"/>
            <a:ext cx="469900" cy="469900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1656202" y="4467087"/>
            <a:ext cx="1765300" cy="1748295"/>
            <a:chOff x="6821760" y="4354792"/>
            <a:chExt cx="1765300" cy="174829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EC2884-EB12-9B44-BFB2-EAE24D99FFCA}"/>
                </a:ext>
              </a:extLst>
            </p:cNvPr>
            <p:cNvSpPr/>
            <p:nvPr/>
          </p:nvSpPr>
          <p:spPr>
            <a:xfrm>
              <a:off x="6821760" y="4354792"/>
              <a:ext cx="1765300" cy="1748295"/>
            </a:xfrm>
            <a:prstGeom prst="rect">
              <a:avLst/>
            </a:prstGeom>
            <a:solidFill>
              <a:srgbClr val="C1F3FF">
                <a:alpha val="14902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832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00A0C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20" name="Graphic 99">
              <a:extLst>
                <a:ext uri="{FF2B5EF4-FFF2-40B4-BE49-F238E27FC236}">
                  <a16:creationId xmlns:a16="http://schemas.microsoft.com/office/drawing/2014/main" id="{DCF84520-EDCC-8241-84B0-79CF1F2E1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1760" y="4354793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Graphic 58">
              <a:extLst>
                <a:ext uri="{FF2B5EF4-FFF2-40B4-BE49-F238E27FC236}">
                  <a16:creationId xmlns:a16="http://schemas.microsoft.com/office/drawing/2014/main" id="{DEA1DA0D-A07C-E441-9D9B-EF47B889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08188" y="4893909"/>
              <a:ext cx="469900" cy="469900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7003024" y="4847600"/>
              <a:ext cx="85004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Active Directory DC1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930803" y="4467088"/>
            <a:ext cx="1765300" cy="1748294"/>
            <a:chOff x="9096361" y="4354793"/>
            <a:chExt cx="1765300" cy="17482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EC2884-EB12-9B44-BFB2-EAE24D99FFCA}"/>
                </a:ext>
              </a:extLst>
            </p:cNvPr>
            <p:cNvSpPr/>
            <p:nvPr/>
          </p:nvSpPr>
          <p:spPr>
            <a:xfrm>
              <a:off x="9096361" y="4354793"/>
              <a:ext cx="1765300" cy="1748294"/>
            </a:xfrm>
            <a:prstGeom prst="rect">
              <a:avLst/>
            </a:prstGeom>
            <a:solidFill>
              <a:srgbClr val="C1F3FF">
                <a:alpha val="14902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832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00A0C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18" name="Graphic 99">
              <a:extLst>
                <a:ext uri="{FF2B5EF4-FFF2-40B4-BE49-F238E27FC236}">
                  <a16:creationId xmlns:a16="http://schemas.microsoft.com/office/drawing/2014/main" id="{DCF84520-EDCC-8241-84B0-79CF1F2E1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96361" y="4354793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Graphic 58">
              <a:extLst>
                <a:ext uri="{FF2B5EF4-FFF2-40B4-BE49-F238E27FC236}">
                  <a16:creationId xmlns:a16="http://schemas.microsoft.com/office/drawing/2014/main" id="{DEA1DA0D-A07C-E441-9D9B-EF47B889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70141" y="4943549"/>
              <a:ext cx="469900" cy="46990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9259171" y="4887642"/>
              <a:ext cx="85004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Active Directory DC2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712088" y="2854693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File Share Witness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4224" y="3237935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  <a:r>
              <a:rPr lang="en-US" sz="1100" baseline="30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</a:t>
            </a:r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SQL Replica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3629" y="3249410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  <a:r>
              <a:rPr lang="en-US" sz="1100" baseline="30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nd</a:t>
            </a:r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SQL Replica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5413837" y="3237935"/>
            <a:ext cx="11597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63572" y="3267496"/>
            <a:ext cx="1207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Sync Mode Auto Failover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3224906" y="3237935"/>
            <a:ext cx="11597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874946" y="3902686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10.0.10.0/24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21002" y="3925392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10.0.20.0/24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7190" y="3925392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10.0.30.0/24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98898" y="5922062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10.0.40.0/24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2503" y="5942941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10.0.50.0/24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4B84CB2-3636-3247-BF16-7F5D8F01E041}"/>
              </a:ext>
            </a:extLst>
          </p:cNvPr>
          <p:cNvSpPr/>
          <p:nvPr/>
        </p:nvSpPr>
        <p:spPr>
          <a:xfrm>
            <a:off x="10644592" y="1190652"/>
            <a:ext cx="3681008" cy="592294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941177-3BD0-4145-84CF-A371FB18B388}"/>
              </a:ext>
            </a:extLst>
          </p:cNvPr>
          <p:cNvSpPr/>
          <p:nvPr/>
        </p:nvSpPr>
        <p:spPr>
          <a:xfrm>
            <a:off x="11049188" y="1690081"/>
            <a:ext cx="2891401" cy="5120725"/>
          </a:xfrm>
          <a:prstGeom prst="rect">
            <a:avLst/>
          </a:prstGeom>
          <a:noFill/>
          <a:ln w="12700">
            <a:solidFill>
              <a:srgbClr val="69AE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69AE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11561792" y="2398007"/>
            <a:ext cx="1765300" cy="1766289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11379388" y="2015218"/>
            <a:ext cx="2155306" cy="4519142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A</a:t>
            </a:r>
          </a:p>
        </p:txBody>
      </p:sp>
      <p:pic>
        <p:nvPicPr>
          <p:cNvPr id="50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34146" y="2826313"/>
            <a:ext cx="469900" cy="469900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11561791" y="4467087"/>
            <a:ext cx="1765300" cy="1748295"/>
            <a:chOff x="6821760" y="4354792"/>
            <a:chExt cx="1765300" cy="1748295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0EC2884-EB12-9B44-BFB2-EAE24D99FFCA}"/>
                </a:ext>
              </a:extLst>
            </p:cNvPr>
            <p:cNvSpPr/>
            <p:nvPr/>
          </p:nvSpPr>
          <p:spPr>
            <a:xfrm>
              <a:off x="6821760" y="4354792"/>
              <a:ext cx="1765300" cy="1748295"/>
            </a:xfrm>
            <a:prstGeom prst="rect">
              <a:avLst/>
            </a:prstGeom>
            <a:solidFill>
              <a:srgbClr val="C1F3FF">
                <a:alpha val="14902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832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00A0C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53" name="Graphic 99">
              <a:extLst>
                <a:ext uri="{FF2B5EF4-FFF2-40B4-BE49-F238E27FC236}">
                  <a16:creationId xmlns:a16="http://schemas.microsoft.com/office/drawing/2014/main" id="{DCF84520-EDCC-8241-84B0-79CF1F2E1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1760" y="4354793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Graphic 58">
              <a:extLst>
                <a:ext uri="{FF2B5EF4-FFF2-40B4-BE49-F238E27FC236}">
                  <a16:creationId xmlns:a16="http://schemas.microsoft.com/office/drawing/2014/main" id="{DEA1DA0D-A07C-E441-9D9B-EF47B889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07823" y="4893909"/>
              <a:ext cx="469900" cy="46990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7526032" y="4835568"/>
              <a:ext cx="85004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Active Directory DC3</a:t>
              </a:r>
            </a:p>
          </p:txBody>
        </p:sp>
      </p:grpSp>
      <p:pic>
        <p:nvPicPr>
          <p:cNvPr id="57" name="Graphic 61">
            <a:extLst>
              <a:ext uri="{FF2B5EF4-FFF2-40B4-BE49-F238E27FC236}">
                <a16:creationId xmlns:a16="http://schemas.microsoft.com/office/drawing/2014/main" id="{2E7BD715-16E7-3746-B184-5D905EBA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1135" y="1197897"/>
            <a:ext cx="400579" cy="40057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1866857" y="3338024"/>
            <a:ext cx="850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</a:t>
            </a:r>
            <a:r>
              <a:rPr lang="en-US" sz="1100" baseline="30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rd</a:t>
            </a:r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SQL Replica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47854" y="3902686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10.1.10.0/24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10007" y="5922062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10.1.20.0/24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0157" y="3326503"/>
            <a:ext cx="1457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Async</a:t>
            </a:r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 Mode Manual Failover</a:t>
            </a:r>
          </a:p>
        </p:txBody>
      </p:sp>
      <p:cxnSp>
        <p:nvCxnSpPr>
          <p:cNvPr id="62" name="Straight Arrow Connector 61"/>
          <p:cNvCxnSpPr>
            <a:endCxn id="48" idx="1"/>
          </p:cNvCxnSpPr>
          <p:nvPr/>
        </p:nvCxnSpPr>
        <p:spPr>
          <a:xfrm flipV="1">
            <a:off x="7751175" y="3281152"/>
            <a:ext cx="3810617" cy="111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9180795" y="5144276"/>
            <a:ext cx="1234765" cy="848687"/>
            <a:chOff x="9181782" y="5504262"/>
            <a:chExt cx="1234765" cy="848687"/>
          </a:xfrm>
        </p:grpSpPr>
        <p:sp>
          <p:nvSpPr>
            <p:cNvPr id="63" name="TextBox 22">
              <a:extLst>
                <a:ext uri="{FF2B5EF4-FFF2-40B4-BE49-F238E27FC236}">
                  <a16:creationId xmlns:a16="http://schemas.microsoft.com/office/drawing/2014/main" id="{0AD9A9BE-CBA5-1F43-8D3E-67656A92E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1782" y="5922062"/>
              <a:ext cx="123476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Peering connection</a:t>
              </a:r>
            </a:p>
          </p:txBody>
        </p:sp>
        <p:pic>
          <p:nvPicPr>
            <p:cNvPr id="64" name="Graphic 45">
              <a:extLst>
                <a:ext uri="{FF2B5EF4-FFF2-40B4-BE49-F238E27FC236}">
                  <a16:creationId xmlns:a16="http://schemas.microsoft.com/office/drawing/2014/main" id="{058942E2-703D-C045-B64E-DA32890B5B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9555140" y="5504262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9" name="Group 68"/>
          <p:cNvGrpSpPr/>
          <p:nvPr/>
        </p:nvGrpSpPr>
        <p:grpSpPr>
          <a:xfrm>
            <a:off x="8872916" y="4246272"/>
            <a:ext cx="1819673" cy="796159"/>
            <a:chOff x="8863491" y="4056197"/>
            <a:chExt cx="1819673" cy="796159"/>
          </a:xfrm>
        </p:grpSpPr>
        <p:pic>
          <p:nvPicPr>
            <p:cNvPr id="65" name="Graphic 7">
              <a:extLst>
                <a:ext uri="{FF2B5EF4-FFF2-40B4-BE49-F238E27FC236}">
                  <a16:creationId xmlns:a16="http://schemas.microsoft.com/office/drawing/2014/main" id="{491CAB9B-5201-714E-AD61-5706FD20AE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6170" y="4056197"/>
              <a:ext cx="525163" cy="525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" name="TextBox 9">
              <a:extLst>
                <a:ext uri="{FF2B5EF4-FFF2-40B4-BE49-F238E27FC236}">
                  <a16:creationId xmlns:a16="http://schemas.microsoft.com/office/drawing/2014/main" id="{73B4B597-35F4-BA4E-8570-205B8E21F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3491" y="4590746"/>
              <a:ext cx="181967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1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Transit Gateway</a:t>
              </a:r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9D44402-A942-DB4A-B651-6E9EFF4E89CE}"/>
              </a:ext>
            </a:extLst>
          </p:cNvPr>
          <p:cNvCxnSpPr/>
          <p:nvPr/>
        </p:nvCxnSpPr>
        <p:spPr>
          <a:xfrm>
            <a:off x="8507038" y="6113000"/>
            <a:ext cx="2531079" cy="7478"/>
          </a:xfrm>
          <a:prstGeom prst="straightConnector1">
            <a:avLst/>
          </a:prstGeom>
          <a:ln w="38100">
            <a:solidFill>
              <a:srgbClr val="8FA7C4"/>
            </a:solidFill>
            <a:prstDash val="dash"/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263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C12CB98C-CC77-4AAE-BDF5-399B01DD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050" y="519691"/>
            <a:ext cx="13167360" cy="731521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SQL FCI with Amazon </a:t>
            </a:r>
            <a:r>
              <a:rPr lang="en-US" sz="4400" b="1" spc="80" dirty="0" err="1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FSx</a:t>
            </a:r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for Windows File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84CB2-3636-3247-BF16-7F5D8F01E041}"/>
              </a:ext>
            </a:extLst>
          </p:cNvPr>
          <p:cNvSpPr/>
          <p:nvPr/>
        </p:nvSpPr>
        <p:spPr>
          <a:xfrm>
            <a:off x="7949929" y="1078357"/>
            <a:ext cx="5922481" cy="62368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7" name="Graphic 61">
            <a:extLst>
              <a:ext uri="{FF2B5EF4-FFF2-40B4-BE49-F238E27FC236}">
                <a16:creationId xmlns:a16="http://schemas.microsoft.com/office/drawing/2014/main" id="{2E7BD715-16E7-3746-B184-5D905EBA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6473" y="1089988"/>
            <a:ext cx="400579" cy="4005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941177-3BD0-4145-84CF-A371FB18B388}"/>
              </a:ext>
            </a:extLst>
          </p:cNvPr>
          <p:cNvSpPr/>
          <p:nvPr/>
        </p:nvSpPr>
        <p:spPr>
          <a:xfrm>
            <a:off x="8354526" y="1577787"/>
            <a:ext cx="5084748" cy="5532877"/>
          </a:xfrm>
          <a:prstGeom prst="rect">
            <a:avLst/>
          </a:prstGeom>
          <a:noFill/>
          <a:ln w="12700">
            <a:solidFill>
              <a:srgbClr val="69AE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69AE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9" name="Graphic 106">
            <a:extLst>
              <a:ext uri="{FF2B5EF4-FFF2-40B4-BE49-F238E27FC236}">
                <a16:creationId xmlns:a16="http://schemas.microsoft.com/office/drawing/2014/main" id="{B2E7B569-11C7-1D4B-BBDA-9085F5BFA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526" y="1580924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8732854" y="1878577"/>
            <a:ext cx="2155306" cy="5039581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10994855" y="1878577"/>
            <a:ext cx="2113528" cy="5039581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8921557" y="5256248"/>
            <a:ext cx="1765300" cy="1523981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20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557" y="5256249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7985" y="5795365"/>
            <a:ext cx="469900" cy="4699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02821" y="5749056"/>
            <a:ext cx="8500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Active Directory DC1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11196158" y="5256249"/>
            <a:ext cx="1765300" cy="1523980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8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6158" y="5256249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58">
            <a:extLst>
              <a:ext uri="{FF2B5EF4-FFF2-40B4-BE49-F238E27FC236}">
                <a16:creationId xmlns:a16="http://schemas.microsoft.com/office/drawing/2014/main" id="{DEA1DA0D-A07C-E441-9D9B-EF47B8890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69938" y="5845005"/>
            <a:ext cx="469900" cy="4699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358968" y="5789098"/>
            <a:ext cx="8500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Active Directory DC2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4253" y="6569932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10.0.30.0/24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7858" y="6566747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10.0.40.0/24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8917635" y="2325751"/>
            <a:ext cx="4037305" cy="2778164"/>
            <a:chOff x="887500" y="2265044"/>
            <a:chExt cx="4037305" cy="277816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F99214A-1A14-5B48-B95E-1103D51AB1E0}"/>
                </a:ext>
              </a:extLst>
            </p:cNvPr>
            <p:cNvSpPr/>
            <p:nvPr/>
          </p:nvSpPr>
          <p:spPr>
            <a:xfrm>
              <a:off x="987278" y="3719876"/>
              <a:ext cx="3835190" cy="987850"/>
            </a:xfrm>
            <a:prstGeom prst="rect">
              <a:avLst/>
            </a:prstGeom>
            <a:solidFill>
              <a:srgbClr val="00B0F0">
                <a:alpha val="80000"/>
              </a:srgbClr>
            </a:solidFill>
            <a:ln w="28575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Shared Storage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EC2884-EB12-9B44-BFB2-EAE24D99FFCA}"/>
                </a:ext>
              </a:extLst>
            </p:cNvPr>
            <p:cNvSpPr/>
            <p:nvPr/>
          </p:nvSpPr>
          <p:spPr>
            <a:xfrm>
              <a:off x="887500" y="2265044"/>
              <a:ext cx="1765300" cy="2716030"/>
            </a:xfrm>
            <a:prstGeom prst="rect">
              <a:avLst/>
            </a:prstGeom>
            <a:solidFill>
              <a:srgbClr val="C1F3FF">
                <a:alpha val="14902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832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00A0C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13" name="Graphic 99">
              <a:extLst>
                <a:ext uri="{FF2B5EF4-FFF2-40B4-BE49-F238E27FC236}">
                  <a16:creationId xmlns:a16="http://schemas.microsoft.com/office/drawing/2014/main" id="{DCF84520-EDCC-8241-84B0-79CF1F2E1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7500" y="2265046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0EC2884-EB12-9B44-BFB2-EAE24D99FFCA}"/>
                </a:ext>
              </a:extLst>
            </p:cNvPr>
            <p:cNvSpPr/>
            <p:nvPr/>
          </p:nvSpPr>
          <p:spPr>
            <a:xfrm>
              <a:off x="3159505" y="2265045"/>
              <a:ext cx="1765300" cy="2716029"/>
            </a:xfrm>
            <a:prstGeom prst="rect">
              <a:avLst/>
            </a:prstGeom>
            <a:solidFill>
              <a:srgbClr val="C1F3FF">
                <a:alpha val="14902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38328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00A0C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Private subnet</a:t>
              </a:r>
            </a:p>
          </p:txBody>
        </p:sp>
        <p:pic>
          <p:nvPicPr>
            <p:cNvPr id="15" name="Graphic 99">
              <a:extLst>
                <a:ext uri="{FF2B5EF4-FFF2-40B4-BE49-F238E27FC236}">
                  <a16:creationId xmlns:a16="http://schemas.microsoft.com/office/drawing/2014/main" id="{DCF84520-EDCC-8241-84B0-79CF1F2E1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505" y="2265046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" name="Group 3"/>
            <p:cNvGrpSpPr/>
            <p:nvPr/>
          </p:nvGrpSpPr>
          <p:grpSpPr>
            <a:xfrm>
              <a:off x="1209931" y="2732855"/>
              <a:ext cx="1113374" cy="472721"/>
              <a:chOff x="714808" y="2465538"/>
              <a:chExt cx="1113374" cy="472721"/>
            </a:xfrm>
          </p:grpSpPr>
          <p:pic>
            <p:nvPicPr>
              <p:cNvPr id="26" name="Graphic 58">
                <a:extLst>
                  <a:ext uri="{FF2B5EF4-FFF2-40B4-BE49-F238E27FC236}">
                    <a16:creationId xmlns:a16="http://schemas.microsoft.com/office/drawing/2014/main" id="{DEA1DA0D-A07C-E441-9D9B-EF47B8890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358282" y="2465538"/>
                <a:ext cx="469900" cy="469900"/>
              </a:xfrm>
              <a:prstGeom prst="rect">
                <a:avLst/>
              </a:prstGeom>
            </p:spPr>
          </p:pic>
          <p:sp>
            <p:nvSpPr>
              <p:cNvPr id="33" name="TextBox 32"/>
              <p:cNvSpPr txBox="1"/>
              <p:nvPr/>
            </p:nvSpPr>
            <p:spPr>
              <a:xfrm>
                <a:off x="714808" y="2507372"/>
                <a:ext cx="85004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1</a:t>
                </a:r>
                <a:r>
                  <a:rPr lang="en-US" sz="1100" baseline="30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st</a:t>
                </a:r>
                <a:r>
                  <a:rPr lang="en-US" sz="11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 SQL Node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3491148" y="2757510"/>
              <a:ext cx="1147359" cy="469900"/>
              <a:chOff x="3683904" y="2815130"/>
              <a:chExt cx="1147359" cy="469900"/>
            </a:xfrm>
          </p:grpSpPr>
          <p:pic>
            <p:nvPicPr>
              <p:cNvPr id="27" name="Graphic 58">
                <a:extLst>
                  <a:ext uri="{FF2B5EF4-FFF2-40B4-BE49-F238E27FC236}">
                    <a16:creationId xmlns:a16="http://schemas.microsoft.com/office/drawing/2014/main" id="{DEA1DA0D-A07C-E441-9D9B-EF47B8890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683904" y="2815130"/>
                <a:ext cx="469900" cy="469900"/>
              </a:xfrm>
              <a:prstGeom prst="rect">
                <a:avLst/>
              </a:prstGeom>
            </p:spPr>
          </p:pic>
          <p:sp>
            <p:nvSpPr>
              <p:cNvPr id="34" name="TextBox 33"/>
              <p:cNvSpPr txBox="1"/>
              <p:nvPr/>
            </p:nvSpPr>
            <p:spPr>
              <a:xfrm>
                <a:off x="3981220" y="2829716"/>
                <a:ext cx="85004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2</a:t>
                </a:r>
                <a:r>
                  <a:rPr lang="en-US" sz="1100" baseline="300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nd</a:t>
                </a:r>
                <a:r>
                  <a:rPr lang="en-US" sz="1100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 SQL Node</a:t>
                </a:r>
              </a:p>
            </p:txBody>
          </p:sp>
        </p:grpSp>
        <p:cxnSp>
          <p:nvCxnSpPr>
            <p:cNvPr id="36" name="Straight Arrow Connector 35"/>
            <p:cNvCxnSpPr/>
            <p:nvPr/>
          </p:nvCxnSpPr>
          <p:spPr>
            <a:xfrm>
              <a:off x="2301504" y="4196777"/>
              <a:ext cx="1159792" cy="0"/>
            </a:xfrm>
            <a:prstGeom prst="straightConnector1">
              <a:avLst/>
            </a:prstGeom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1123116" y="4781598"/>
              <a:ext cx="12940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10.0.10.0/24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44440" y="4780956"/>
              <a:ext cx="12940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10.0.20.0/24</a:t>
              </a: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1196557" y="3931051"/>
              <a:ext cx="1104947" cy="469900"/>
              <a:chOff x="1196557" y="3931051"/>
              <a:chExt cx="1104947" cy="469900"/>
            </a:xfrm>
          </p:grpSpPr>
          <p:pic>
            <p:nvPicPr>
              <p:cNvPr id="48" name="Graphic 10">
                <a:extLst>
                  <a:ext uri="{FF2B5EF4-FFF2-40B4-BE49-F238E27FC236}">
                    <a16:creationId xmlns:a16="http://schemas.microsoft.com/office/drawing/2014/main" id="{B7ADA2CC-E930-D14D-911D-04AB3BAE6C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1604" y="3931051"/>
                <a:ext cx="469900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" name="TextBox 34"/>
              <p:cNvSpPr txBox="1"/>
              <p:nvPr/>
            </p:nvSpPr>
            <p:spPr>
              <a:xfrm>
                <a:off x="1196557" y="3950557"/>
                <a:ext cx="73028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</a:t>
                </a:r>
                <a:r>
                  <a:rPr lang="en-US" sz="1100" b="1" dirty="0" err="1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FSx</a:t>
                </a:r>
                <a:endParaRPr lang="en-US" sz="11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3504747" y="3961827"/>
              <a:ext cx="1073882" cy="469900"/>
              <a:chOff x="3504747" y="3961827"/>
              <a:chExt cx="1073882" cy="469900"/>
            </a:xfrm>
          </p:grpSpPr>
          <p:pic>
            <p:nvPicPr>
              <p:cNvPr id="49" name="Graphic 10">
                <a:extLst>
                  <a:ext uri="{FF2B5EF4-FFF2-40B4-BE49-F238E27FC236}">
                    <a16:creationId xmlns:a16="http://schemas.microsoft.com/office/drawing/2014/main" id="{B7ADA2CC-E930-D14D-911D-04AB3BAE6C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4747" y="3961827"/>
                <a:ext cx="469900" cy="469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" name="TextBox 49"/>
              <p:cNvSpPr txBox="1"/>
              <p:nvPr/>
            </p:nvSpPr>
            <p:spPr>
              <a:xfrm>
                <a:off x="3848340" y="3981334"/>
                <a:ext cx="73028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Amazon </a:t>
                </a:r>
                <a:r>
                  <a:rPr lang="en-US" sz="1100" b="1" dirty="0" err="1">
                    <a:latin typeface="Amazon Ember" panose="020B0603020204020204" pitchFamily="34" charset="0"/>
                    <a:ea typeface="Amazon Ember" panose="020B0603020204020204" pitchFamily="34" charset="0"/>
                    <a:cs typeface="Amazon Ember" panose="020B0603020204020204" pitchFamily="34" charset="0"/>
                  </a:rPr>
                  <a:t>FSx</a:t>
                </a:r>
                <a:endParaRPr lang="en-US" sz="1100" b="1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endParaRPr>
              </a:p>
            </p:txBody>
          </p:sp>
        </p:grpSp>
        <p:cxnSp>
          <p:nvCxnSpPr>
            <p:cNvPr id="53" name="Straight Arrow Connector 52"/>
            <p:cNvCxnSpPr/>
            <p:nvPr/>
          </p:nvCxnSpPr>
          <p:spPr>
            <a:xfrm>
              <a:off x="2261654" y="3224371"/>
              <a:ext cx="504812" cy="432287"/>
            </a:xfrm>
            <a:prstGeom prst="straightConnector1">
              <a:avLst/>
            </a:prstGeom>
            <a:ln w="28575" cap="flat" cmpd="sng" algn="ctr">
              <a:solidFill>
                <a:schemeClr val="accent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V="1">
              <a:off x="3072921" y="3227410"/>
              <a:ext cx="504812" cy="432287"/>
            </a:xfrm>
            <a:prstGeom prst="straightConnector1">
              <a:avLst/>
            </a:prstGeom>
            <a:ln w="28575" cap="flat" cmpd="sng" algn="ctr">
              <a:solidFill>
                <a:schemeClr val="accent1"/>
              </a:solidFill>
              <a:prstDash val="sysDash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304268" y="4977729"/>
            <a:ext cx="708005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SQL Server:</a:t>
            </a:r>
          </a:p>
          <a:p>
            <a:pPr marL="118872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Instance-level HA solution</a:t>
            </a:r>
          </a:p>
          <a:p>
            <a:pPr marL="118872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Logins, SQL Agent jobs, certificates and other SQL Server instance level objects are in-tact after failover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578A2F-EDDF-4745-8404-82A3E0296C3E}"/>
              </a:ext>
            </a:extLst>
          </p:cNvPr>
          <p:cNvSpPr txBox="1"/>
          <p:nvPr/>
        </p:nvSpPr>
        <p:spPr>
          <a:xfrm>
            <a:off x="230709" y="1290277"/>
            <a:ext cx="747538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Infrastructure:</a:t>
            </a:r>
          </a:p>
          <a:p>
            <a:pPr marL="118872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Clustered disk resource via SMB and continuously available shares (CAFS)</a:t>
            </a:r>
          </a:p>
          <a:p>
            <a:pPr marL="118872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AWS managed SMB file system</a:t>
            </a:r>
          </a:p>
          <a:p>
            <a:pPr marL="118872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Storage and Network traffic using the same network pipe</a:t>
            </a:r>
          </a:p>
          <a:p>
            <a:pPr marL="118872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Managed storage configuration and maintenance</a:t>
            </a:r>
          </a:p>
          <a:p>
            <a:pPr marL="118872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Very limited control over file system configuration (e.g. 4k vs. 64k allocation unit)</a:t>
            </a:r>
          </a:p>
        </p:txBody>
      </p:sp>
    </p:spTree>
    <p:extLst>
      <p:ext uri="{BB962C8B-B14F-4D97-AF65-F5344CB8AC3E}">
        <p14:creationId xmlns:p14="http://schemas.microsoft.com/office/powerpoint/2010/main" val="3945332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C12CB98C-CC77-4AAE-BDF5-399B01DD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050" y="519691"/>
            <a:ext cx="13167360" cy="731521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SQL FCI with </a:t>
            </a:r>
            <a:r>
              <a:rPr lang="en-GB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Amazon </a:t>
            </a:r>
            <a:r>
              <a:rPr lang="en-GB" sz="4400" b="1" spc="80" dirty="0" err="1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FSx</a:t>
            </a:r>
            <a:r>
              <a:rPr lang="en-GB" sz="4400" b="1" spc="80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for NetApp ONTAP</a:t>
            </a:r>
            <a:endParaRPr lang="en-US" sz="4400" b="1" spc="80" dirty="0"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84CB2-3636-3247-BF16-7F5D8F01E041}"/>
              </a:ext>
            </a:extLst>
          </p:cNvPr>
          <p:cNvSpPr/>
          <p:nvPr/>
        </p:nvSpPr>
        <p:spPr>
          <a:xfrm>
            <a:off x="872723" y="1251212"/>
            <a:ext cx="5922481" cy="62368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7" name="Graphic 61">
            <a:extLst>
              <a:ext uri="{FF2B5EF4-FFF2-40B4-BE49-F238E27FC236}">
                <a16:creationId xmlns:a16="http://schemas.microsoft.com/office/drawing/2014/main" id="{2E7BD715-16E7-3746-B184-5D905EBA0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267" y="1262843"/>
            <a:ext cx="400579" cy="4005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D941177-3BD0-4145-84CF-A371FB18B388}"/>
              </a:ext>
            </a:extLst>
          </p:cNvPr>
          <p:cNvSpPr/>
          <p:nvPr/>
        </p:nvSpPr>
        <p:spPr>
          <a:xfrm>
            <a:off x="1277320" y="1750642"/>
            <a:ext cx="5084748" cy="5532877"/>
          </a:xfrm>
          <a:prstGeom prst="rect">
            <a:avLst/>
          </a:prstGeom>
          <a:noFill/>
          <a:ln w="12700">
            <a:solidFill>
              <a:srgbClr val="69AE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69AE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9" name="Graphic 106">
            <a:extLst>
              <a:ext uri="{FF2B5EF4-FFF2-40B4-BE49-F238E27FC236}">
                <a16:creationId xmlns:a16="http://schemas.microsoft.com/office/drawing/2014/main" id="{B2E7B569-11C7-1D4B-BBDA-9085F5BFA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320" y="1753779"/>
            <a:ext cx="3302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1655648" y="2051432"/>
            <a:ext cx="2155306" cy="5039581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AAA562-145E-6240-A95D-8A7D31CBF73C}"/>
              </a:ext>
            </a:extLst>
          </p:cNvPr>
          <p:cNvSpPr/>
          <p:nvPr/>
        </p:nvSpPr>
        <p:spPr>
          <a:xfrm>
            <a:off x="3917649" y="2051432"/>
            <a:ext cx="2113528" cy="5039581"/>
          </a:xfrm>
          <a:prstGeom prst="rect">
            <a:avLst/>
          </a:prstGeom>
          <a:noFill/>
          <a:ln w="12700">
            <a:solidFill>
              <a:srgbClr val="00A0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99214A-1A14-5B48-B95E-1103D51AB1E0}"/>
              </a:ext>
            </a:extLst>
          </p:cNvPr>
          <p:cNvSpPr/>
          <p:nvPr/>
        </p:nvSpPr>
        <p:spPr>
          <a:xfrm>
            <a:off x="1940207" y="4926762"/>
            <a:ext cx="3835190" cy="1505120"/>
          </a:xfrm>
          <a:prstGeom prst="rect">
            <a:avLst/>
          </a:prstGeom>
          <a:solidFill>
            <a:srgbClr val="00B0F0">
              <a:alpha val="80000"/>
            </a:srgbClr>
          </a:solidFill>
          <a:ln w="2857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1840429" y="2498605"/>
            <a:ext cx="1765300" cy="4290501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3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429" y="2498608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EC2884-EB12-9B44-BFB2-EAE24D99FFCA}"/>
              </a:ext>
            </a:extLst>
          </p:cNvPr>
          <p:cNvSpPr/>
          <p:nvPr/>
        </p:nvSpPr>
        <p:spPr>
          <a:xfrm>
            <a:off x="4112434" y="2498607"/>
            <a:ext cx="1765300" cy="4290500"/>
          </a:xfrm>
          <a:prstGeom prst="rect">
            <a:avLst/>
          </a:prstGeom>
          <a:solidFill>
            <a:srgbClr val="C1F3FF">
              <a:alpha val="14902"/>
            </a:srgb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38328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00A0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pic>
        <p:nvPicPr>
          <p:cNvPr id="15" name="Graphic 99">
            <a:extLst>
              <a:ext uri="{FF2B5EF4-FFF2-40B4-BE49-F238E27FC236}">
                <a16:creationId xmlns:a16="http://schemas.microsoft.com/office/drawing/2014/main" id="{DCF84520-EDCC-8241-84B0-79CF1F2E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434" y="2498608"/>
            <a:ext cx="2746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927910" y="2963824"/>
            <a:ext cx="1113374" cy="472721"/>
            <a:chOff x="714808" y="2465538"/>
            <a:chExt cx="1113374" cy="472721"/>
          </a:xfrm>
        </p:grpSpPr>
        <p:pic>
          <p:nvPicPr>
            <p:cNvPr id="26" name="Graphic 58">
              <a:extLst>
                <a:ext uri="{FF2B5EF4-FFF2-40B4-BE49-F238E27FC236}">
                  <a16:creationId xmlns:a16="http://schemas.microsoft.com/office/drawing/2014/main" id="{DEA1DA0D-A07C-E441-9D9B-EF47B889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58282" y="2465538"/>
              <a:ext cx="469900" cy="46990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714808" y="2507372"/>
              <a:ext cx="8500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1</a:t>
              </a:r>
              <a:r>
                <a:rPr lang="en-US" sz="1100" baseline="300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st</a:t>
              </a:r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 SQL Node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278256" y="2977549"/>
            <a:ext cx="1147359" cy="469900"/>
            <a:chOff x="3683904" y="2815130"/>
            <a:chExt cx="1147359" cy="469900"/>
          </a:xfrm>
        </p:grpSpPr>
        <p:pic>
          <p:nvPicPr>
            <p:cNvPr id="27" name="Graphic 58">
              <a:extLst>
                <a:ext uri="{FF2B5EF4-FFF2-40B4-BE49-F238E27FC236}">
                  <a16:creationId xmlns:a16="http://schemas.microsoft.com/office/drawing/2014/main" id="{DEA1DA0D-A07C-E441-9D9B-EF47B889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683904" y="2815130"/>
              <a:ext cx="469900" cy="46990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3981220" y="2829716"/>
              <a:ext cx="85004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2</a:t>
              </a:r>
              <a:r>
                <a:rPr lang="en-US" sz="1100" baseline="300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nd</a:t>
              </a:r>
              <a:r>
                <a:rPr lang="en-US" sz="1100" dirty="0">
                  <a:latin typeface="Amazon Ember" panose="020B0603020204020204" pitchFamily="34" charset="0"/>
                  <a:ea typeface="Amazon Ember" panose="020B0603020204020204" pitchFamily="34" charset="0"/>
                  <a:cs typeface="Amazon Ember" panose="020B0603020204020204" pitchFamily="34" charset="0"/>
                </a:rPr>
                <a:t> SQL Node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991030" y="6547644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10.0.10.0/24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8256" y="6529380"/>
            <a:ext cx="129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10.0.20.0/24</a:t>
            </a:r>
          </a:p>
        </p:txBody>
      </p:sp>
      <p:cxnSp>
        <p:nvCxnSpPr>
          <p:cNvPr id="53" name="Straight Arrow Connector 52"/>
          <p:cNvCxnSpPr>
            <a:cxnSpLocks/>
          </p:cNvCxnSpPr>
          <p:nvPr/>
        </p:nvCxnSpPr>
        <p:spPr>
          <a:xfrm>
            <a:off x="2832532" y="3509006"/>
            <a:ext cx="0" cy="908660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cxnSpLocks/>
          </p:cNvCxnSpPr>
          <p:nvPr/>
        </p:nvCxnSpPr>
        <p:spPr>
          <a:xfrm flipV="1">
            <a:off x="2972739" y="3460974"/>
            <a:ext cx="1557923" cy="1004724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ys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A254FEB-3CF9-7342-9C42-FC80933335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76746" y="5112716"/>
            <a:ext cx="1336460" cy="1069168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6E4AD715-7804-CE4F-8D29-2EECA3A627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87881" y="4457229"/>
            <a:ext cx="469900" cy="4699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6C60BA4E-FF99-6A47-8B10-EBE87CA6CE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60134" y="4451227"/>
            <a:ext cx="469900" cy="4699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9F31F6-37BC-1744-A89E-D1281C99A887}"/>
              </a:ext>
            </a:extLst>
          </p:cNvPr>
          <p:cNvSpPr txBox="1"/>
          <p:nvPr/>
        </p:nvSpPr>
        <p:spPr>
          <a:xfrm rot="16200000">
            <a:off x="1389535" y="3738154"/>
            <a:ext cx="2505206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LU" sz="1400" dirty="0"/>
              <a:t>iSCSI/SMB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18651B5-5673-8A4F-9CF7-826D4EE8C6C2}"/>
              </a:ext>
            </a:extLst>
          </p:cNvPr>
          <p:cNvSpPr txBox="1"/>
          <p:nvPr/>
        </p:nvSpPr>
        <p:spPr>
          <a:xfrm rot="19543205">
            <a:off x="2675432" y="3857469"/>
            <a:ext cx="2505206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LU" sz="1400" dirty="0"/>
              <a:t>iSCSI/SMB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331D59-D86D-AD4C-936D-BB373289D8A9}"/>
              </a:ext>
            </a:extLst>
          </p:cNvPr>
          <p:cNvSpPr txBox="1"/>
          <p:nvPr/>
        </p:nvSpPr>
        <p:spPr>
          <a:xfrm>
            <a:off x="2525478" y="4923941"/>
            <a:ext cx="637354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LU" sz="1200" dirty="0"/>
              <a:t>Primary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8F3B9A-E5A9-FE4F-8A36-4AE411D2005B}"/>
              </a:ext>
            </a:extLst>
          </p:cNvPr>
          <p:cNvSpPr txBox="1"/>
          <p:nvPr/>
        </p:nvSpPr>
        <p:spPr>
          <a:xfrm>
            <a:off x="4658772" y="4921127"/>
            <a:ext cx="672621" cy="276999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LU" sz="1200" dirty="0"/>
              <a:t>Standby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661D1F-FA35-6747-A78E-7A07C7D25AB7}"/>
              </a:ext>
            </a:extLst>
          </p:cNvPr>
          <p:cNvSpPr txBox="1"/>
          <p:nvPr/>
        </p:nvSpPr>
        <p:spPr>
          <a:xfrm>
            <a:off x="7092520" y="2266993"/>
            <a:ext cx="7241726" cy="190821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Amazon </a:t>
            </a:r>
            <a:r>
              <a:rPr lang="en-GB" sz="2200" dirty="0" err="1"/>
              <a:t>FSx</a:t>
            </a:r>
            <a:r>
              <a:rPr lang="en-GB" sz="2200" dirty="0"/>
              <a:t> for NetApp ONTAP includes all of </a:t>
            </a:r>
          </a:p>
          <a:p>
            <a:pPr>
              <a:spcAft>
                <a:spcPts val="1200"/>
              </a:spcAft>
            </a:pPr>
            <a:r>
              <a:rPr lang="en-GB" sz="2200" dirty="0"/>
              <a:t>     ONTAP’s storage efficiency and cost-savings features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High-performance SSD storage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200" dirty="0"/>
              <a:t>NetApp ONTAP offers multiple throughput capacity</a:t>
            </a:r>
            <a:endParaRPr lang="en-LU" sz="2200" dirty="0" err="1"/>
          </a:p>
        </p:txBody>
      </p:sp>
    </p:spTree>
    <p:extLst>
      <p:ext uri="{BB962C8B-B14F-4D97-AF65-F5344CB8AC3E}">
        <p14:creationId xmlns:p14="http://schemas.microsoft.com/office/powerpoint/2010/main" val="933641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271A-65E7-E642-A434-4B6EB9B51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Migrating SQL Server to AWS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3012780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11376" y="2077683"/>
            <a:ext cx="6904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60" b="1" dirty="0"/>
              <a:t>Backup &amp; Restore</a:t>
            </a:r>
          </a:p>
          <a:p>
            <a:pPr marL="0" lvl="2"/>
            <a:r>
              <a:rPr lang="en-US" sz="2240" dirty="0"/>
              <a:t>SQL Server’s native backup functionality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1375" y="4899172"/>
            <a:ext cx="7244982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60" b="1" dirty="0"/>
              <a:t>AWS Database Migration Service</a:t>
            </a:r>
          </a:p>
          <a:p>
            <a:r>
              <a:rPr lang="en-US" sz="2240" dirty="0"/>
              <a:t>Minimize downtime during migrations, migrate between different DB platforms</a:t>
            </a:r>
          </a:p>
        </p:txBody>
      </p:sp>
      <p:sp>
        <p:nvSpPr>
          <p:cNvPr id="8" name="Oval 7"/>
          <p:cNvSpPr/>
          <p:nvPr/>
        </p:nvSpPr>
        <p:spPr>
          <a:xfrm>
            <a:off x="1119056" y="2149680"/>
            <a:ext cx="687002" cy="68700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119056" y="5143524"/>
            <a:ext cx="687002" cy="68700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pic>
        <p:nvPicPr>
          <p:cNvPr id="11" name="Picture 10" descr="Deck_Databases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2839" y="2493182"/>
            <a:ext cx="3131534" cy="3131534"/>
          </a:xfrm>
          <a:prstGeom prst="rect">
            <a:avLst/>
          </a:prstGeom>
        </p:spPr>
      </p:pic>
      <p:pic>
        <p:nvPicPr>
          <p:cNvPr id="12" name="Picture 11" descr="Deck_ArrowsSync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576" y="3818353"/>
            <a:ext cx="2691578" cy="2691578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1119056" y="3586224"/>
            <a:ext cx="687002" cy="68700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1375" y="3402250"/>
            <a:ext cx="6720303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60" b="1" dirty="0"/>
              <a:t>SQL Always On Availability Group</a:t>
            </a:r>
          </a:p>
          <a:p>
            <a:r>
              <a:rPr lang="en-GB" sz="2240" dirty="0"/>
              <a:t>Asynchronous-commit mode, distributed AGs (SQL Server 2016+)</a:t>
            </a:r>
            <a:endParaRPr lang="en-US" sz="2240" dirty="0"/>
          </a:p>
        </p:txBody>
      </p:sp>
    </p:spTree>
    <p:extLst>
      <p:ext uri="{BB962C8B-B14F-4D97-AF65-F5344CB8AC3E}">
        <p14:creationId xmlns:p14="http://schemas.microsoft.com/office/powerpoint/2010/main" val="1408210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05819" y="4806791"/>
            <a:ext cx="2580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migrations@amazon.com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571" y="2590800"/>
            <a:ext cx="126814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2540056"/>
      </p:ext>
    </p:extLst>
  </p:cSld>
  <p:clrMapOvr>
    <a:masterClrMapping/>
  </p:clrMapOvr>
</p:sld>
</file>

<file path=ppt/theme/theme1.xml><?xml version="1.0" encoding="utf-8"?>
<a:theme xmlns:a="http://schemas.openxmlformats.org/drawingml/2006/main" name="OneBrandConfidential_Light">
  <a:themeElements>
    <a:clrScheme name="OB">
      <a:dk1>
        <a:srgbClr val="232F3E"/>
      </a:dk1>
      <a:lt1>
        <a:srgbClr val="FFFFFF"/>
      </a:lt1>
      <a:dk2>
        <a:srgbClr val="262261"/>
      </a:dk2>
      <a:lt2>
        <a:srgbClr val="F1F3F3"/>
      </a:lt2>
      <a:accent1>
        <a:srgbClr val="005176"/>
      </a:accent1>
      <a:accent2>
        <a:srgbClr val="C9208A"/>
      </a:accent2>
      <a:accent3>
        <a:srgbClr val="504BAB"/>
      </a:accent3>
      <a:accent4>
        <a:srgbClr val="FF9900"/>
      </a:accent4>
      <a:accent5>
        <a:srgbClr val="36C2B3"/>
      </a:accent5>
      <a:accent6>
        <a:srgbClr val="005176"/>
      </a:accent6>
      <a:hlink>
        <a:srgbClr val="FF6633"/>
      </a:hlink>
      <a:folHlink>
        <a:srgbClr val="FF6633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Aft>
            <a:spcPts val="1200"/>
          </a:spcAft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tlCol="0">
        <a:spAutoFit/>
      </a:bodyPr>
      <a:lstStyle>
        <a:defPPr algn="l">
          <a:spcAft>
            <a:spcPts val="1200"/>
          </a:spcAft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3 DH Webinar" id="{8D9BD19C-7171-4DEF-B5B2-55B9E176C182}" vid="{571B27D1-ED91-4442-A514-B93DCF5E29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A3D6C04DFD740953BA1B2B9E62D60" ma:contentTypeVersion="0" ma:contentTypeDescription="Create a new document." ma:contentTypeScope="" ma:versionID="26617cd14cd3af163c0e97ff614e52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A3258A-222C-4488-825E-7520D001FB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597C89A-FD0C-431E-81F6-90225B937683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05B35A6-8B52-46A5-AE45-B98C6459DC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PPTemplate2021</Template>
  <TotalTime>48431</TotalTime>
  <Words>1887</Words>
  <Application>Microsoft Office PowerPoint</Application>
  <PresentationFormat>Custom</PresentationFormat>
  <Paragraphs>525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Amazon Ember</vt:lpstr>
      <vt:lpstr>Amazon Ember Cd RC</vt:lpstr>
      <vt:lpstr>Amazon Ember Heavy</vt:lpstr>
      <vt:lpstr>Amazon Ember Light</vt:lpstr>
      <vt:lpstr>Amazon Ember Regular</vt:lpstr>
      <vt:lpstr>Arial</vt:lpstr>
      <vt:lpstr>Calibri</vt:lpstr>
      <vt:lpstr>Wingdings</vt:lpstr>
      <vt:lpstr>OneBrandConfidential_Light</vt:lpstr>
      <vt:lpstr>PowerPoint Presentation</vt:lpstr>
      <vt:lpstr>Agenda</vt:lpstr>
      <vt:lpstr>Where can I run my SQL Server workloads on AWS?</vt:lpstr>
      <vt:lpstr>Options for Deploying SQL Server on AWS</vt:lpstr>
      <vt:lpstr>SQL Server Features at a Glance</vt:lpstr>
      <vt:lpstr>Amazon RDS with SQL Server</vt:lpstr>
      <vt:lpstr>Amazon RDS: Hassle-free flexibility</vt:lpstr>
      <vt:lpstr>Compute and Storage Scaling</vt:lpstr>
      <vt:lpstr>Automated backups, Snapshots and Native Backups</vt:lpstr>
      <vt:lpstr>Amazon RDS Multi-AZ SQL Server</vt:lpstr>
      <vt:lpstr>Read scale-out with Amazon RDS</vt:lpstr>
      <vt:lpstr>Amazon RDS Enhanced Monitoring</vt:lpstr>
      <vt:lpstr>Performance Insights for RDS SQL Server</vt:lpstr>
      <vt:lpstr>SQL Server on Amazon EC2</vt:lpstr>
      <vt:lpstr>SQL Server on Amazon EC2</vt:lpstr>
      <vt:lpstr>Optimizing Performance for SQL Server on EC2</vt:lpstr>
      <vt:lpstr>Amazon EC2: Purpose-built computing</vt:lpstr>
      <vt:lpstr>Get the maximum EBS performance on Amazon EC2</vt:lpstr>
      <vt:lpstr>Get the maximum EBS performance on Amazon EC2</vt:lpstr>
      <vt:lpstr>Amazon EBS io2 Block Express Volumes </vt:lpstr>
      <vt:lpstr>Place tempdb in EC2 Instance Store</vt:lpstr>
      <vt:lpstr>Place tempdb in EC2 Instance Store</vt:lpstr>
      <vt:lpstr>PowerPoint Presentation</vt:lpstr>
      <vt:lpstr>Optimize your disk layout or file distribution</vt:lpstr>
      <vt:lpstr>Optimize your disk layout or file distribution</vt:lpstr>
      <vt:lpstr>High Availability Best Practices for SQL Server on EC2</vt:lpstr>
      <vt:lpstr>SQL Server HA/DR on EC2</vt:lpstr>
      <vt:lpstr>Multi-AZ Always On Availability Group</vt:lpstr>
      <vt:lpstr>Multi-AZ Always On Availability Group</vt:lpstr>
      <vt:lpstr>Multi-Region Always On Availability Group</vt:lpstr>
      <vt:lpstr>SQL FCI with Amazon FSx for Windows File Server</vt:lpstr>
      <vt:lpstr>SQL FCI with Amazon FSx for NetApp ONTAP</vt:lpstr>
      <vt:lpstr>Migrating SQL Server to 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Gianluca Hotz</cp:lastModifiedBy>
  <cp:revision>346</cp:revision>
  <dcterms:created xsi:type="dcterms:W3CDTF">2016-06-17T18:22:10Z</dcterms:created>
  <dcterms:modified xsi:type="dcterms:W3CDTF">2021-10-28T08:21:39Z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